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sldSz cx="18288000" cy="10287000"/>
  <p:notesSz cx="6858000" cy="9144000"/>
  <p:embeddedFontLst>
    <p:embeddedFont>
      <p:font typeface="Montserrat" panose="00000500000000000000" pitchFamily="2" charset="0"/>
      <p:regular r:id="rId28"/>
    </p:embeddedFont>
    <p:embeddedFont>
      <p:font typeface="Montserrat Bold" panose="00000800000000000000" charset="0"/>
      <p:regular r:id="rId29"/>
    </p:embeddedFont>
    <p:embeddedFont>
      <p:font typeface="Poppins" panose="00000500000000000000" pitchFamily="2" charset="0"/>
      <p:regular r:id="rId30"/>
      <p:bold r:id="rId31"/>
      <p:italic r:id="rId32"/>
      <p:boldItalic r:id="rId33"/>
    </p:embeddedFont>
    <p:embeddedFont>
      <p:font typeface="Poppins Bold" panose="00000800000000000000" charset="0"/>
      <p:regular r:id="rId3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42" d="100"/>
          <a:sy n="42" d="100"/>
        </p:scale>
        <p:origin x="636" y="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6.fntdata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5.fntdata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1.fntdata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3.fntdata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sv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28127" y="523835"/>
            <a:ext cx="1993505" cy="1993505"/>
          </a:xfrm>
          <a:custGeom>
            <a:avLst/>
            <a:gdLst/>
            <a:ahLst/>
            <a:cxnLst/>
            <a:rect l="l" t="t" r="r" b="b"/>
            <a:pathLst>
              <a:path w="1993505" h="1993505">
                <a:moveTo>
                  <a:pt x="0" y="0"/>
                </a:moveTo>
                <a:lnTo>
                  <a:pt x="1993505" y="0"/>
                </a:lnTo>
                <a:lnTo>
                  <a:pt x="1993505" y="1993505"/>
                </a:lnTo>
                <a:lnTo>
                  <a:pt x="0" y="199350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0" y="318754"/>
            <a:ext cx="17996899" cy="8076108"/>
          </a:xfrm>
          <a:custGeom>
            <a:avLst/>
            <a:gdLst/>
            <a:ahLst/>
            <a:cxnLst/>
            <a:rect l="l" t="t" r="r" b="b"/>
            <a:pathLst>
              <a:path w="17996899" h="8076108">
                <a:moveTo>
                  <a:pt x="0" y="0"/>
                </a:moveTo>
                <a:lnTo>
                  <a:pt x="17996899" y="0"/>
                </a:lnTo>
                <a:lnTo>
                  <a:pt x="17996899" y="8076109"/>
                </a:lnTo>
                <a:lnTo>
                  <a:pt x="0" y="807610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-465053" y="8752316"/>
            <a:ext cx="19762414" cy="1891864"/>
            <a:chOff x="0" y="0"/>
            <a:chExt cx="5533915" cy="52976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5533915" cy="529764"/>
            </a:xfrm>
            <a:custGeom>
              <a:avLst/>
              <a:gdLst/>
              <a:ahLst/>
              <a:cxnLst/>
              <a:rect l="l" t="t" r="r" b="b"/>
              <a:pathLst>
                <a:path w="5533915" h="529764">
                  <a:moveTo>
                    <a:pt x="0" y="0"/>
                  </a:moveTo>
                  <a:lnTo>
                    <a:pt x="5533915" y="0"/>
                  </a:lnTo>
                  <a:lnTo>
                    <a:pt x="5533915" y="529764"/>
                  </a:lnTo>
                  <a:lnTo>
                    <a:pt x="0" y="529764"/>
                  </a:lnTo>
                  <a:close/>
                </a:path>
              </a:pathLst>
            </a:custGeom>
            <a:solidFill>
              <a:srgbClr val="145DA0">
                <a:alpha val="48627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5533915" cy="5678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5DA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32204" y="7686324"/>
            <a:ext cx="5841799" cy="1153755"/>
          </a:xfrm>
          <a:custGeom>
            <a:avLst/>
            <a:gdLst/>
            <a:ahLst/>
            <a:cxnLst/>
            <a:rect l="l" t="t" r="r" b="b"/>
            <a:pathLst>
              <a:path w="5841799" h="1153755">
                <a:moveTo>
                  <a:pt x="0" y="0"/>
                </a:moveTo>
                <a:lnTo>
                  <a:pt x="5841799" y="0"/>
                </a:lnTo>
                <a:lnTo>
                  <a:pt x="5841799" y="1153755"/>
                </a:lnTo>
                <a:lnTo>
                  <a:pt x="0" y="115375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6224860" y="7686324"/>
            <a:ext cx="5841799" cy="1153755"/>
          </a:xfrm>
          <a:custGeom>
            <a:avLst/>
            <a:gdLst/>
            <a:ahLst/>
            <a:cxnLst/>
            <a:rect l="l" t="t" r="r" b="b"/>
            <a:pathLst>
              <a:path w="5841799" h="1153755">
                <a:moveTo>
                  <a:pt x="0" y="0"/>
                </a:moveTo>
                <a:lnTo>
                  <a:pt x="5841799" y="0"/>
                </a:lnTo>
                <a:lnTo>
                  <a:pt x="5841799" y="1153755"/>
                </a:lnTo>
                <a:lnTo>
                  <a:pt x="0" y="115375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2213997" y="7686324"/>
            <a:ext cx="5841799" cy="1153755"/>
          </a:xfrm>
          <a:custGeom>
            <a:avLst/>
            <a:gdLst/>
            <a:ahLst/>
            <a:cxnLst/>
            <a:rect l="l" t="t" r="r" b="b"/>
            <a:pathLst>
              <a:path w="5841799" h="1153755">
                <a:moveTo>
                  <a:pt x="0" y="0"/>
                </a:moveTo>
                <a:lnTo>
                  <a:pt x="5841799" y="0"/>
                </a:lnTo>
                <a:lnTo>
                  <a:pt x="5841799" y="1153755"/>
                </a:lnTo>
                <a:lnTo>
                  <a:pt x="0" y="115375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12213997" y="3298645"/>
            <a:ext cx="5841799" cy="5541434"/>
            <a:chOff x="0" y="0"/>
            <a:chExt cx="1554321" cy="147440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554321" cy="1474403"/>
            </a:xfrm>
            <a:custGeom>
              <a:avLst/>
              <a:gdLst/>
              <a:ahLst/>
              <a:cxnLst/>
              <a:rect l="l" t="t" r="r" b="b"/>
              <a:pathLst>
                <a:path w="1554321" h="1474403">
                  <a:moveTo>
                    <a:pt x="58312" y="0"/>
                  </a:moveTo>
                  <a:lnTo>
                    <a:pt x="1496009" y="0"/>
                  </a:lnTo>
                  <a:cubicBezTo>
                    <a:pt x="1511474" y="0"/>
                    <a:pt x="1526306" y="6144"/>
                    <a:pt x="1537241" y="17079"/>
                  </a:cubicBezTo>
                  <a:cubicBezTo>
                    <a:pt x="1548177" y="28015"/>
                    <a:pt x="1554321" y="42846"/>
                    <a:pt x="1554321" y="58312"/>
                  </a:cubicBezTo>
                  <a:lnTo>
                    <a:pt x="1554321" y="1416091"/>
                  </a:lnTo>
                  <a:cubicBezTo>
                    <a:pt x="1554321" y="1431557"/>
                    <a:pt x="1548177" y="1446388"/>
                    <a:pt x="1537241" y="1457324"/>
                  </a:cubicBezTo>
                  <a:cubicBezTo>
                    <a:pt x="1526306" y="1468259"/>
                    <a:pt x="1511474" y="1474403"/>
                    <a:pt x="1496009" y="1474403"/>
                  </a:cubicBezTo>
                  <a:lnTo>
                    <a:pt x="58312" y="1474403"/>
                  </a:lnTo>
                  <a:cubicBezTo>
                    <a:pt x="42846" y="1474403"/>
                    <a:pt x="28015" y="1468259"/>
                    <a:pt x="17079" y="1457324"/>
                  </a:cubicBezTo>
                  <a:cubicBezTo>
                    <a:pt x="6144" y="1446388"/>
                    <a:pt x="0" y="1431557"/>
                    <a:pt x="0" y="1416091"/>
                  </a:cubicBezTo>
                  <a:lnTo>
                    <a:pt x="0" y="58312"/>
                  </a:lnTo>
                  <a:cubicBezTo>
                    <a:pt x="0" y="42846"/>
                    <a:pt x="6144" y="28015"/>
                    <a:pt x="17079" y="17079"/>
                  </a:cubicBezTo>
                  <a:cubicBezTo>
                    <a:pt x="28015" y="6144"/>
                    <a:pt x="42846" y="0"/>
                    <a:pt x="58312" y="0"/>
                  </a:cubicBezTo>
                  <a:close/>
                </a:path>
              </a:pathLst>
            </a:custGeom>
            <a:solidFill>
              <a:srgbClr val="FDFDFD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554321" cy="15125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6224860" y="3298645"/>
            <a:ext cx="5841799" cy="5541434"/>
            <a:chOff x="0" y="0"/>
            <a:chExt cx="1554321" cy="1474403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554321" cy="1474403"/>
            </a:xfrm>
            <a:custGeom>
              <a:avLst/>
              <a:gdLst/>
              <a:ahLst/>
              <a:cxnLst/>
              <a:rect l="l" t="t" r="r" b="b"/>
              <a:pathLst>
                <a:path w="1554321" h="1474403">
                  <a:moveTo>
                    <a:pt x="58312" y="0"/>
                  </a:moveTo>
                  <a:lnTo>
                    <a:pt x="1496009" y="0"/>
                  </a:lnTo>
                  <a:cubicBezTo>
                    <a:pt x="1511474" y="0"/>
                    <a:pt x="1526306" y="6144"/>
                    <a:pt x="1537241" y="17079"/>
                  </a:cubicBezTo>
                  <a:cubicBezTo>
                    <a:pt x="1548177" y="28015"/>
                    <a:pt x="1554321" y="42846"/>
                    <a:pt x="1554321" y="58312"/>
                  </a:cubicBezTo>
                  <a:lnTo>
                    <a:pt x="1554321" y="1416091"/>
                  </a:lnTo>
                  <a:cubicBezTo>
                    <a:pt x="1554321" y="1431557"/>
                    <a:pt x="1548177" y="1446388"/>
                    <a:pt x="1537241" y="1457324"/>
                  </a:cubicBezTo>
                  <a:cubicBezTo>
                    <a:pt x="1526306" y="1468259"/>
                    <a:pt x="1511474" y="1474403"/>
                    <a:pt x="1496009" y="1474403"/>
                  </a:cubicBezTo>
                  <a:lnTo>
                    <a:pt x="58312" y="1474403"/>
                  </a:lnTo>
                  <a:cubicBezTo>
                    <a:pt x="42846" y="1474403"/>
                    <a:pt x="28015" y="1468259"/>
                    <a:pt x="17079" y="1457324"/>
                  </a:cubicBezTo>
                  <a:cubicBezTo>
                    <a:pt x="6144" y="1446388"/>
                    <a:pt x="0" y="1431557"/>
                    <a:pt x="0" y="1416091"/>
                  </a:cubicBezTo>
                  <a:lnTo>
                    <a:pt x="0" y="58312"/>
                  </a:lnTo>
                  <a:cubicBezTo>
                    <a:pt x="0" y="42846"/>
                    <a:pt x="6144" y="28015"/>
                    <a:pt x="17079" y="17079"/>
                  </a:cubicBezTo>
                  <a:cubicBezTo>
                    <a:pt x="28015" y="6144"/>
                    <a:pt x="42846" y="0"/>
                    <a:pt x="58312" y="0"/>
                  </a:cubicBezTo>
                  <a:close/>
                </a:path>
              </a:pathLst>
            </a:custGeom>
            <a:solidFill>
              <a:srgbClr val="FDFDFD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1554321" cy="15125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232204" y="3298645"/>
            <a:ext cx="5841799" cy="5541434"/>
            <a:chOff x="0" y="0"/>
            <a:chExt cx="1554321" cy="1474403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554321" cy="1474403"/>
            </a:xfrm>
            <a:custGeom>
              <a:avLst/>
              <a:gdLst/>
              <a:ahLst/>
              <a:cxnLst/>
              <a:rect l="l" t="t" r="r" b="b"/>
              <a:pathLst>
                <a:path w="1554321" h="1474403">
                  <a:moveTo>
                    <a:pt x="58312" y="0"/>
                  </a:moveTo>
                  <a:lnTo>
                    <a:pt x="1496009" y="0"/>
                  </a:lnTo>
                  <a:cubicBezTo>
                    <a:pt x="1511474" y="0"/>
                    <a:pt x="1526306" y="6144"/>
                    <a:pt x="1537241" y="17079"/>
                  </a:cubicBezTo>
                  <a:cubicBezTo>
                    <a:pt x="1548177" y="28015"/>
                    <a:pt x="1554321" y="42846"/>
                    <a:pt x="1554321" y="58312"/>
                  </a:cubicBezTo>
                  <a:lnTo>
                    <a:pt x="1554321" y="1416091"/>
                  </a:lnTo>
                  <a:cubicBezTo>
                    <a:pt x="1554321" y="1431557"/>
                    <a:pt x="1548177" y="1446388"/>
                    <a:pt x="1537241" y="1457324"/>
                  </a:cubicBezTo>
                  <a:cubicBezTo>
                    <a:pt x="1526306" y="1468259"/>
                    <a:pt x="1511474" y="1474403"/>
                    <a:pt x="1496009" y="1474403"/>
                  </a:cubicBezTo>
                  <a:lnTo>
                    <a:pt x="58312" y="1474403"/>
                  </a:lnTo>
                  <a:cubicBezTo>
                    <a:pt x="42846" y="1474403"/>
                    <a:pt x="28015" y="1468259"/>
                    <a:pt x="17079" y="1457324"/>
                  </a:cubicBezTo>
                  <a:cubicBezTo>
                    <a:pt x="6144" y="1446388"/>
                    <a:pt x="0" y="1431557"/>
                    <a:pt x="0" y="1416091"/>
                  </a:cubicBezTo>
                  <a:lnTo>
                    <a:pt x="0" y="58312"/>
                  </a:lnTo>
                  <a:cubicBezTo>
                    <a:pt x="0" y="42846"/>
                    <a:pt x="6144" y="28015"/>
                    <a:pt x="17079" y="17079"/>
                  </a:cubicBezTo>
                  <a:cubicBezTo>
                    <a:pt x="28015" y="6144"/>
                    <a:pt x="42846" y="0"/>
                    <a:pt x="58312" y="0"/>
                  </a:cubicBezTo>
                  <a:close/>
                </a:path>
              </a:pathLst>
            </a:custGeom>
            <a:solidFill>
              <a:srgbClr val="FDFDFD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1554321" cy="15125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-2123887" y="-2346523"/>
            <a:ext cx="4693046" cy="4693046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952500" cap="sq">
              <a:solidFill>
                <a:srgbClr val="FFFFFF">
                  <a:alpha val="15686"/>
                </a:srgbClr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5573718" y="7940477"/>
            <a:ext cx="4693046" cy="4693046"/>
            <a:chOff x="0" y="0"/>
            <a:chExt cx="812800" cy="8128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952500" cap="sq">
              <a:solidFill>
                <a:srgbClr val="FFFFFF">
                  <a:alpha val="15686"/>
                </a:srgbClr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4419660" y="1895726"/>
            <a:ext cx="8451315" cy="17752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151"/>
              </a:lnSpc>
            </a:pPr>
            <a:r>
              <a:rPr lang="en-US" sz="5108" b="1">
                <a:solidFill>
                  <a:srgbClr val="FDFDF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PROJECT EXPLANATION </a:t>
            </a:r>
          </a:p>
          <a:p>
            <a:pPr marL="0" lvl="0" indent="0" algn="ctr">
              <a:lnSpc>
                <a:spcPts val="7151"/>
              </a:lnSpc>
              <a:spcBef>
                <a:spcPct val="0"/>
              </a:spcBef>
            </a:pPr>
            <a:endParaRPr lang="en-US" sz="5108" b="1">
              <a:solidFill>
                <a:srgbClr val="FDFDFD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1399378" y="3594778"/>
            <a:ext cx="2877407" cy="6632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440"/>
              </a:lnSpc>
              <a:spcBef>
                <a:spcPct val="0"/>
              </a:spcBef>
            </a:pPr>
            <a:r>
              <a:rPr lang="en-US" sz="3886" b="1">
                <a:solidFill>
                  <a:srgbClr val="051D4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Wha</a:t>
            </a:r>
            <a:r>
              <a:rPr lang="en-US" sz="3886" b="1" u="none" strike="noStrike">
                <a:solidFill>
                  <a:srgbClr val="051D4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t: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534317" y="3690749"/>
            <a:ext cx="5271443" cy="4276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endParaRPr/>
          </a:p>
          <a:p>
            <a:pPr marL="0" lvl="0" indent="0" algn="ctr">
              <a:lnSpc>
                <a:spcPts val="4200"/>
              </a:lnSpc>
              <a:spcBef>
                <a:spcPct val="0"/>
              </a:spcBef>
            </a:pPr>
            <a:r>
              <a:rPr lang="en-US" sz="3000" u="none" strike="noStrike" spc="-6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 A data analytics project focusing on Airbnb listings, pricing trends, and customer reviews to understand demand patterns, host performance, and property availability.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7707056" y="3594778"/>
            <a:ext cx="2877407" cy="6632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440"/>
              </a:lnSpc>
              <a:spcBef>
                <a:spcPct val="0"/>
              </a:spcBef>
            </a:pPr>
            <a:r>
              <a:rPr lang="en-US" sz="3886" b="1">
                <a:solidFill>
                  <a:srgbClr val="051D4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Where: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3696193" y="3594778"/>
            <a:ext cx="2877407" cy="6632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440"/>
              </a:lnSpc>
              <a:spcBef>
                <a:spcPct val="0"/>
              </a:spcBef>
            </a:pPr>
            <a:r>
              <a:rPr lang="en-US" sz="3886" b="1">
                <a:solidFill>
                  <a:srgbClr val="051D4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Why: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6510038" y="4172343"/>
            <a:ext cx="5271443" cy="4276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200"/>
              </a:lnSpc>
              <a:spcBef>
                <a:spcPct val="0"/>
              </a:spcBef>
            </a:pPr>
            <a:r>
              <a:rPr lang="en-US" sz="3000" spc="-60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Utilizing the A</a:t>
            </a:r>
            <a:r>
              <a:rPr lang="en-US" sz="3000" u="none" strike="noStrike" spc="-60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irbnb</a:t>
            </a:r>
            <a:r>
              <a:rPr lang="en-US" sz="3000" spc="-60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 dataset </a:t>
            </a:r>
            <a:r>
              <a:rPr lang="en-US" sz="3000" u="none" strike="noStrike" spc="-60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c</a:t>
            </a:r>
            <a:r>
              <a:rPr lang="en-US" sz="3000" spc="-60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o</a:t>
            </a:r>
            <a:r>
              <a:rPr lang="en-US" sz="3000" u="none" strike="noStrike" spc="-60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n</a:t>
            </a:r>
            <a:r>
              <a:rPr lang="en-US" sz="3000" spc="-60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s</a:t>
            </a:r>
            <a:r>
              <a:rPr lang="en-US" sz="3000" u="none" strike="noStrike" spc="-60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ist</a:t>
            </a:r>
            <a:r>
              <a:rPr lang="en-US" sz="3000" spc="-60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ing o</a:t>
            </a:r>
            <a:r>
              <a:rPr lang="en-US" sz="3000" u="none" strike="noStrike" spc="-60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f</a:t>
            </a:r>
            <a:r>
              <a:rPr lang="en-US" sz="3000" spc="-60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3000" u="none" strike="noStrike" spc="-60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th</a:t>
            </a:r>
            <a:r>
              <a:rPr lang="en-US" sz="3000" spc="-60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r</a:t>
            </a:r>
            <a:r>
              <a:rPr lang="en-US" sz="3000" u="none" strike="noStrike" spc="-60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ee relatio</a:t>
            </a:r>
            <a:r>
              <a:rPr lang="en-US" sz="3000" spc="-60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n</a:t>
            </a:r>
            <a:r>
              <a:rPr lang="en-US" sz="3000" u="none" strike="noStrike" spc="-60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al</a:t>
            </a:r>
            <a:r>
              <a:rPr lang="en-US" sz="3000" spc="-60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3000" u="none" strike="noStrike" spc="-60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tab</a:t>
            </a:r>
            <a:r>
              <a:rPr lang="en-US" sz="3000" spc="-60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l</a:t>
            </a:r>
            <a:r>
              <a:rPr lang="en-US" sz="3000" u="none" strike="noStrike" spc="-60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es — L</a:t>
            </a:r>
            <a:r>
              <a:rPr lang="en-US" sz="3000" spc="-60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istings, </a:t>
            </a:r>
            <a:r>
              <a:rPr lang="en-US" sz="3000" u="none" strike="noStrike" spc="-60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Rev</a:t>
            </a:r>
            <a:r>
              <a:rPr lang="en-US" sz="3000" spc="-60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ie</a:t>
            </a:r>
            <a:r>
              <a:rPr lang="en-US" sz="3000" u="none" strike="noStrike" spc="-60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w</a:t>
            </a:r>
            <a:r>
              <a:rPr lang="en-US" sz="3000" spc="-60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s, and </a:t>
            </a:r>
            <a:r>
              <a:rPr lang="en-US" sz="3000" u="none" strike="noStrike" spc="-60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Cal</a:t>
            </a:r>
            <a:r>
              <a:rPr lang="en-US" sz="3000" spc="-60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e</a:t>
            </a:r>
            <a:r>
              <a:rPr lang="en-US" sz="3000" u="none" strike="noStrike" spc="-60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nda</a:t>
            </a:r>
            <a:r>
              <a:rPr lang="en-US" sz="3000" spc="-60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r </a:t>
            </a:r>
            <a:r>
              <a:rPr lang="en-US" sz="3000" u="none" strike="noStrike" spc="-60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—</a:t>
            </a:r>
            <a:r>
              <a:rPr lang="en-US" sz="3000" spc="-60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3000" u="none" strike="noStrike" spc="-60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c</a:t>
            </a:r>
            <a:r>
              <a:rPr lang="en-US" sz="3000" spc="-60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onta</a:t>
            </a:r>
            <a:r>
              <a:rPr lang="en-US" sz="3000" u="none" strike="noStrike" spc="-60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i</a:t>
            </a:r>
            <a:r>
              <a:rPr lang="en-US" sz="3000" spc="-60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n</a:t>
            </a:r>
            <a:r>
              <a:rPr lang="en-US" sz="3000" u="none" strike="noStrike" spc="-60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i</a:t>
            </a:r>
            <a:r>
              <a:rPr lang="en-US" sz="3000" spc="-60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n</a:t>
            </a:r>
            <a:r>
              <a:rPr lang="en-US" sz="3000" u="none" strike="noStrike" spc="-60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g</a:t>
            </a:r>
            <a:r>
              <a:rPr lang="en-US" sz="3000" spc="-60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 p</a:t>
            </a:r>
            <a:r>
              <a:rPr lang="en-US" sz="3000" u="none" strike="noStrike" spc="-60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roper</a:t>
            </a:r>
            <a:r>
              <a:rPr lang="en-US" sz="3000" spc="-60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t</a:t>
            </a:r>
            <a:r>
              <a:rPr lang="en-US" sz="3000" u="none" strike="noStrike" spc="-60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y de</a:t>
            </a:r>
            <a:r>
              <a:rPr lang="en-US" sz="3000" spc="-60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t</a:t>
            </a:r>
            <a:r>
              <a:rPr lang="en-US" sz="3000" u="none" strike="noStrike" spc="-60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ail</a:t>
            </a:r>
            <a:r>
              <a:rPr lang="en-US" sz="3000" spc="-60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s, </a:t>
            </a:r>
            <a:r>
              <a:rPr lang="en-US" sz="3000" u="none" strike="noStrike" spc="-60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cu</a:t>
            </a:r>
            <a:r>
              <a:rPr lang="en-US" sz="3000" spc="-60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st</a:t>
            </a:r>
            <a:r>
              <a:rPr lang="en-US" sz="3000" u="none" strike="noStrike" spc="-60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om</a:t>
            </a:r>
            <a:r>
              <a:rPr lang="en-US" sz="3000" spc="-60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er</a:t>
            </a:r>
            <a:r>
              <a:rPr lang="en-US" sz="3000" u="none" strike="noStrike" spc="-60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3000" spc="-60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f</a:t>
            </a:r>
            <a:r>
              <a:rPr lang="en-US" sz="3000" u="none" strike="noStrike" spc="-60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eedb</a:t>
            </a:r>
            <a:r>
              <a:rPr lang="en-US" sz="3000" spc="-60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ac</a:t>
            </a:r>
            <a:r>
              <a:rPr lang="en-US" sz="3000" u="none" strike="noStrike" spc="-60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k</a:t>
            </a:r>
            <a:r>
              <a:rPr lang="en-US" sz="3000" spc="-60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, and availability</a:t>
            </a:r>
            <a:r>
              <a:rPr lang="en-US" sz="3000" u="none" strike="noStrike" spc="-60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/pricing information</a:t>
            </a:r>
            <a:r>
              <a:rPr lang="en-US" sz="3000" spc="-60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2504809" y="4172343"/>
            <a:ext cx="5271443" cy="4276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200"/>
              </a:lnSpc>
              <a:spcBef>
                <a:spcPct val="0"/>
              </a:spcBef>
            </a:pPr>
            <a:r>
              <a:rPr lang="en-US" sz="3000" spc="-6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To </a:t>
            </a:r>
            <a:r>
              <a:rPr lang="en-US" sz="3000" u="none" strike="noStrike" spc="-6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i</a:t>
            </a:r>
            <a:r>
              <a:rPr lang="en-US" sz="3000" spc="-6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d</a:t>
            </a:r>
            <a:r>
              <a:rPr lang="en-US" sz="3000" u="none" strike="noStrike" spc="-6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en</a:t>
            </a:r>
            <a:r>
              <a:rPr lang="en-US" sz="3000" spc="-6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t</a:t>
            </a:r>
            <a:r>
              <a:rPr lang="en-US" sz="3000" u="none" strike="noStrike" spc="-6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ify</a:t>
            </a:r>
            <a:r>
              <a:rPr lang="en-US" sz="3000" spc="-6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3000" u="none" strike="noStrike" spc="-6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high-dem</a:t>
            </a:r>
            <a:r>
              <a:rPr lang="en-US" sz="3000" spc="-6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an</a:t>
            </a:r>
            <a:r>
              <a:rPr lang="en-US" sz="3000" u="none" strike="noStrike" spc="-6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d loc</a:t>
            </a:r>
            <a:r>
              <a:rPr lang="en-US" sz="3000" spc="-6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ati</a:t>
            </a:r>
            <a:r>
              <a:rPr lang="en-US" sz="3000" u="none" strike="noStrike" spc="-6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on</a:t>
            </a:r>
            <a:r>
              <a:rPr lang="en-US" sz="3000" spc="-6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s</a:t>
            </a:r>
            <a:r>
              <a:rPr lang="en-US" sz="3000" u="none" strike="noStrike" spc="-6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,</a:t>
            </a:r>
            <a:r>
              <a:rPr lang="en-US" sz="3000" spc="-6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3000" u="none" strike="noStrike" spc="-6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o</a:t>
            </a:r>
            <a:r>
              <a:rPr lang="en-US" sz="3000" spc="-6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p</a:t>
            </a:r>
            <a:r>
              <a:rPr lang="en-US" sz="3000" u="none" strike="noStrike" spc="-6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timiz</a:t>
            </a:r>
            <a:r>
              <a:rPr lang="en-US" sz="3000" spc="-6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e </a:t>
            </a:r>
            <a:r>
              <a:rPr lang="en-US" sz="3000" u="none" strike="noStrike" spc="-6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pri</a:t>
            </a:r>
            <a:r>
              <a:rPr lang="en-US" sz="3000" spc="-6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cing </a:t>
            </a:r>
            <a:r>
              <a:rPr lang="en-US" sz="3000" u="none" strike="noStrike" spc="-6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st</a:t>
            </a:r>
            <a:r>
              <a:rPr lang="en-US" sz="3000" spc="-6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r</a:t>
            </a:r>
            <a:r>
              <a:rPr lang="en-US" sz="3000" u="none" strike="noStrike" spc="-6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a</a:t>
            </a:r>
            <a:r>
              <a:rPr lang="en-US" sz="3000" spc="-6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t</a:t>
            </a:r>
            <a:r>
              <a:rPr lang="en-US" sz="3000" u="none" strike="noStrike" spc="-6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e</a:t>
            </a:r>
            <a:r>
              <a:rPr lang="en-US" sz="3000" spc="-6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g</a:t>
            </a:r>
            <a:r>
              <a:rPr lang="en-US" sz="3000" u="none" strike="noStrike" spc="-6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ie</a:t>
            </a:r>
            <a:r>
              <a:rPr lang="en-US" sz="3000" spc="-6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s, </a:t>
            </a:r>
            <a:r>
              <a:rPr lang="en-US" sz="3000" u="none" strike="noStrike" spc="-6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im</a:t>
            </a:r>
            <a:r>
              <a:rPr lang="en-US" sz="3000" spc="-6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pr</a:t>
            </a:r>
            <a:r>
              <a:rPr lang="en-US" sz="3000" u="none" strike="noStrike" spc="-6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ove o</a:t>
            </a:r>
            <a:r>
              <a:rPr lang="en-US" sz="3000" spc="-6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c</a:t>
            </a:r>
            <a:r>
              <a:rPr lang="en-US" sz="3000" u="none" strike="noStrike" spc="-6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cupa</a:t>
            </a:r>
            <a:r>
              <a:rPr lang="en-US" sz="3000" spc="-6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n</a:t>
            </a:r>
            <a:r>
              <a:rPr lang="en-US" sz="3000" u="none" strike="noStrike" spc="-6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cy</a:t>
            </a:r>
            <a:r>
              <a:rPr lang="en-US" sz="3000" spc="-6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3000" u="none" strike="noStrike" spc="-6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ra</a:t>
            </a:r>
            <a:r>
              <a:rPr lang="en-US" sz="3000" spc="-6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tes, and </a:t>
            </a:r>
            <a:r>
              <a:rPr lang="en-US" sz="3000" u="none" strike="noStrike" spc="-6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help ho</a:t>
            </a:r>
            <a:r>
              <a:rPr lang="en-US" sz="3000" spc="-6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sts </a:t>
            </a:r>
            <a:r>
              <a:rPr lang="en-US" sz="3000" u="none" strike="noStrike" spc="-6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and</a:t>
            </a:r>
            <a:r>
              <a:rPr lang="en-US" sz="3000" spc="-6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3000" u="none" strike="noStrike" spc="-6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b</a:t>
            </a:r>
            <a:r>
              <a:rPr lang="en-US" sz="3000" spc="-6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u</a:t>
            </a:r>
            <a:r>
              <a:rPr lang="en-US" sz="3000" u="none" strike="noStrike" spc="-6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si</a:t>
            </a:r>
            <a:r>
              <a:rPr lang="en-US" sz="3000" spc="-6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nes</a:t>
            </a:r>
            <a:r>
              <a:rPr lang="en-US" sz="3000" u="none" strike="noStrike" spc="-6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s</a:t>
            </a:r>
            <a:r>
              <a:rPr lang="en-US" sz="3000" spc="-6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e</a:t>
            </a:r>
            <a:r>
              <a:rPr lang="en-US" sz="3000" u="none" strike="noStrike" spc="-6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s </a:t>
            </a:r>
            <a:r>
              <a:rPr lang="en-US" sz="3000" spc="-6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ma</a:t>
            </a:r>
            <a:r>
              <a:rPr lang="en-US" sz="3000" u="none" strike="noStrike" spc="-6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ke </a:t>
            </a:r>
            <a:r>
              <a:rPr lang="en-US" sz="3000" spc="-6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dat</a:t>
            </a:r>
            <a:r>
              <a:rPr lang="en-US" sz="3000" u="none" strike="noStrike" spc="-6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a-d</a:t>
            </a:r>
            <a:r>
              <a:rPr lang="en-US" sz="3000" spc="-6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r</a:t>
            </a:r>
            <a:r>
              <a:rPr lang="en-US" sz="3000" u="none" strike="noStrike" spc="-6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ive</a:t>
            </a:r>
            <a:r>
              <a:rPr lang="en-US" sz="3000" spc="-6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n </a:t>
            </a:r>
            <a:r>
              <a:rPr lang="en-US" sz="3000" u="none" strike="noStrike" spc="-6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decisi</a:t>
            </a:r>
            <a:r>
              <a:rPr lang="en-US" sz="3000" spc="-6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o</a:t>
            </a:r>
            <a:r>
              <a:rPr lang="en-US" sz="3000" u="none" strike="noStrike" spc="-6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n</a:t>
            </a:r>
            <a:r>
              <a:rPr lang="en-US" sz="3000" spc="-6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s for</a:t>
            </a:r>
            <a:r>
              <a:rPr lang="en-US" sz="3000" u="none" strike="noStrike" spc="-6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3000" spc="-6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ma</a:t>
            </a:r>
            <a:r>
              <a:rPr lang="en-US" sz="3000" u="none" strike="noStrike" spc="-6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ximizi</a:t>
            </a:r>
            <a:r>
              <a:rPr lang="en-US" sz="3000" spc="-6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n</a:t>
            </a:r>
            <a:r>
              <a:rPr lang="en-US" sz="3000" u="none" strike="noStrike" spc="-6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g r</a:t>
            </a:r>
            <a:r>
              <a:rPr lang="en-US" sz="3000" spc="-6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e</a:t>
            </a:r>
            <a:r>
              <a:rPr lang="en-US" sz="3000" u="none" strike="noStrike" spc="-6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venue</a:t>
            </a:r>
            <a:r>
              <a:rPr lang="en-US" sz="3000" spc="-6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 and </a:t>
            </a:r>
            <a:r>
              <a:rPr lang="en-US" sz="3000" u="none" strike="noStrike" spc="-6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cust</a:t>
            </a:r>
            <a:r>
              <a:rPr lang="en-US" sz="3000" spc="-6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o</a:t>
            </a:r>
            <a:r>
              <a:rPr lang="en-US" sz="3000" u="none" strike="noStrike" spc="-6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m</a:t>
            </a:r>
            <a:r>
              <a:rPr lang="en-US" sz="3000" spc="-6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er </a:t>
            </a:r>
            <a:r>
              <a:rPr lang="en-US" sz="3000" u="none" strike="noStrike" spc="-6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s</a:t>
            </a:r>
            <a:r>
              <a:rPr lang="en-US" sz="3000" spc="-6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a</a:t>
            </a:r>
            <a:r>
              <a:rPr lang="en-US" sz="3000" u="none" strike="noStrike" spc="-6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t</a:t>
            </a:r>
            <a:r>
              <a:rPr lang="en-US" sz="3000" spc="-6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i</a:t>
            </a:r>
            <a:r>
              <a:rPr lang="en-US" sz="3000" u="none" strike="noStrike" spc="-6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sf</a:t>
            </a:r>
            <a:r>
              <a:rPr lang="en-US" sz="3000" spc="-6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a</a:t>
            </a:r>
            <a:r>
              <a:rPr lang="en-US" sz="3000" u="none" strike="noStrike" spc="-6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c</a:t>
            </a:r>
            <a:r>
              <a:rPr lang="en-US" sz="3000" spc="-6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t</a:t>
            </a:r>
            <a:r>
              <a:rPr lang="en-US" sz="3000" u="none" strike="noStrike" spc="-6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ion</a:t>
            </a:r>
            <a:r>
              <a:rPr lang="en-US" sz="3000" spc="-6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123887" y="-2346523"/>
            <a:ext cx="4693046" cy="4693046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952500" cap="sq">
              <a:solidFill>
                <a:srgbClr val="145DA0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4433249" y="3261242"/>
            <a:ext cx="5652101" cy="9332564"/>
            <a:chOff x="0" y="0"/>
            <a:chExt cx="660400" cy="109043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60400" cy="1090431"/>
            </a:xfrm>
            <a:custGeom>
              <a:avLst/>
              <a:gdLst/>
              <a:ahLst/>
              <a:cxnLst/>
              <a:rect l="l" t="t" r="r" b="b"/>
              <a:pathLst>
                <a:path w="660400" h="1090431">
                  <a:moveTo>
                    <a:pt x="220252" y="19070"/>
                  </a:moveTo>
                  <a:cubicBezTo>
                    <a:pt x="254000" y="7556"/>
                    <a:pt x="292600" y="0"/>
                    <a:pt x="330378" y="0"/>
                  </a:cubicBezTo>
                  <a:cubicBezTo>
                    <a:pt x="368157" y="0"/>
                    <a:pt x="404509" y="6476"/>
                    <a:pt x="438009" y="17990"/>
                  </a:cubicBezTo>
                  <a:cubicBezTo>
                    <a:pt x="438723" y="18350"/>
                    <a:pt x="439435" y="18350"/>
                    <a:pt x="440148" y="18710"/>
                  </a:cubicBezTo>
                  <a:cubicBezTo>
                    <a:pt x="565955" y="64765"/>
                    <a:pt x="658618" y="186379"/>
                    <a:pt x="660400" y="334669"/>
                  </a:cubicBezTo>
                  <a:lnTo>
                    <a:pt x="660400" y="1090431"/>
                  </a:lnTo>
                  <a:lnTo>
                    <a:pt x="0" y="1090431"/>
                  </a:lnTo>
                  <a:lnTo>
                    <a:pt x="0" y="335230"/>
                  </a:lnTo>
                  <a:cubicBezTo>
                    <a:pt x="1782" y="185660"/>
                    <a:pt x="93019" y="64045"/>
                    <a:pt x="220252" y="19070"/>
                  </a:cubicBezTo>
                  <a:close/>
                </a:path>
              </a:pathLst>
            </a:custGeom>
            <a:solidFill>
              <a:srgbClr val="145DA0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88900"/>
              <a:ext cx="660400" cy="10015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518345" y="3175517"/>
            <a:ext cx="12914904" cy="6948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b="1" spc="-55" dirty="0">
                <a:solidFill>
                  <a:srgbClr val="051D40"/>
                </a:solidFill>
                <a:latin typeface="Poppins Bold"/>
                <a:ea typeface="Poppins Bold"/>
                <a:cs typeface="Poppins Bold"/>
                <a:sym typeface="Poppins Bold"/>
              </a:rPr>
              <a:t>Industry:</a:t>
            </a:r>
          </a:p>
          <a:p>
            <a:pPr marL="0" lvl="0" indent="0" algn="l">
              <a:lnSpc>
                <a:spcPts val="3919"/>
              </a:lnSpc>
              <a:spcBef>
                <a:spcPct val="0"/>
              </a:spcBef>
            </a:pPr>
            <a:r>
              <a:rPr lang="en-US" sz="2799" spc="-55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 T</a:t>
            </a:r>
            <a:r>
              <a:rPr lang="en-US" sz="2799" u="none" strike="noStrike" spc="-55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ravel &amp; Hospitality Data Analytics.</a:t>
            </a:r>
          </a:p>
          <a:p>
            <a:pPr marL="0" lvl="0" indent="0" algn="l">
              <a:lnSpc>
                <a:spcPts val="3919"/>
              </a:lnSpc>
              <a:spcBef>
                <a:spcPct val="0"/>
              </a:spcBef>
            </a:pPr>
            <a:endParaRPr lang="en-US" sz="2799" u="none" strike="noStrike" spc="-55" dirty="0">
              <a:solidFill>
                <a:srgbClr val="051D4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>
              <a:lnSpc>
                <a:spcPts val="3919"/>
              </a:lnSpc>
              <a:spcBef>
                <a:spcPct val="0"/>
              </a:spcBef>
            </a:pPr>
            <a:r>
              <a:rPr lang="en-US" sz="2799" b="1" u="none" strike="noStrike" spc="-55" dirty="0">
                <a:solidFill>
                  <a:srgbClr val="051D40"/>
                </a:solidFill>
                <a:latin typeface="Poppins Bold"/>
                <a:ea typeface="Poppins Bold"/>
                <a:cs typeface="Poppins Bold"/>
                <a:sym typeface="Poppins Bold"/>
              </a:rPr>
              <a:t>Relevance:</a:t>
            </a:r>
          </a:p>
          <a:p>
            <a:pPr marL="0" lvl="0" indent="0" algn="l">
              <a:lnSpc>
                <a:spcPts val="3919"/>
              </a:lnSpc>
              <a:spcBef>
                <a:spcPct val="0"/>
              </a:spcBef>
            </a:pPr>
            <a:r>
              <a:rPr lang="en-US" sz="2799" u="none" strike="noStrike" spc="-55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 Property owners, travel companies, and platforms use this analysis to understand customer demand, optimize pricing strategies, and improve occupancy rates for higher revenue.</a:t>
            </a:r>
          </a:p>
          <a:p>
            <a:pPr marL="0" lvl="0" indent="0" algn="l">
              <a:lnSpc>
                <a:spcPts val="3919"/>
              </a:lnSpc>
              <a:spcBef>
                <a:spcPct val="0"/>
              </a:spcBef>
            </a:pPr>
            <a:endParaRPr lang="en-US" sz="2799" u="none" strike="noStrike" spc="-55" dirty="0">
              <a:solidFill>
                <a:srgbClr val="051D4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>
              <a:lnSpc>
                <a:spcPts val="3919"/>
              </a:lnSpc>
              <a:spcBef>
                <a:spcPct val="0"/>
              </a:spcBef>
            </a:pPr>
            <a:r>
              <a:rPr lang="en-US" sz="2799" b="1" u="none" strike="noStrike" spc="-55" dirty="0">
                <a:solidFill>
                  <a:srgbClr val="051D40"/>
                </a:solidFill>
                <a:latin typeface="Poppins Bold"/>
                <a:ea typeface="Poppins Bold"/>
                <a:cs typeface="Poppins Bold"/>
                <a:sym typeface="Poppins Bold"/>
              </a:rPr>
              <a:t>Logic:</a:t>
            </a:r>
          </a:p>
          <a:p>
            <a:pPr marL="0" lvl="0" indent="0" algn="l">
              <a:lnSpc>
                <a:spcPts val="3919"/>
              </a:lnSpc>
              <a:spcBef>
                <a:spcPct val="0"/>
              </a:spcBef>
            </a:pPr>
            <a:r>
              <a:rPr lang="en-US" sz="2799" u="none" strike="noStrike" spc="-55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 By analyzing listings, pricing, availability, and customer reviews, we can identify high-demand locations, determine optimal pricing, and evaluate host performance, helping hosts maximize bookings while improving customer satisfaction.</a:t>
            </a:r>
          </a:p>
          <a:p>
            <a:pPr marL="0" lvl="0" indent="0" algn="l">
              <a:lnSpc>
                <a:spcPts val="3919"/>
              </a:lnSpc>
              <a:spcBef>
                <a:spcPct val="0"/>
              </a:spcBef>
            </a:pPr>
            <a:endParaRPr lang="en-US" sz="2799" u="none" strike="noStrike" spc="-55" dirty="0">
              <a:solidFill>
                <a:srgbClr val="051D4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518345" y="1982948"/>
            <a:ext cx="6918369" cy="15663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300"/>
              </a:lnSpc>
            </a:pPr>
            <a:r>
              <a:rPr lang="en-US" sz="4500">
                <a:solidFill>
                  <a:srgbClr val="051D40"/>
                </a:solidFill>
                <a:latin typeface="Montserrat"/>
                <a:ea typeface="Montserrat"/>
                <a:cs typeface="Montserrat"/>
                <a:sym typeface="Montserrat"/>
              </a:rPr>
              <a:t>BUSINESS LOGIC</a:t>
            </a:r>
          </a:p>
          <a:p>
            <a:pPr algn="l">
              <a:lnSpc>
                <a:spcPts val="6300"/>
              </a:lnSpc>
              <a:spcBef>
                <a:spcPct val="0"/>
              </a:spcBef>
            </a:pPr>
            <a:endParaRPr lang="en-US" sz="4500">
              <a:solidFill>
                <a:srgbClr val="051D4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4517814" y="-315404"/>
            <a:ext cx="3964281" cy="10917809"/>
            <a:chOff x="0" y="0"/>
            <a:chExt cx="1044090" cy="287547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44090" cy="2875472"/>
            </a:xfrm>
            <a:custGeom>
              <a:avLst/>
              <a:gdLst/>
              <a:ahLst/>
              <a:cxnLst/>
              <a:rect l="l" t="t" r="r" b="b"/>
              <a:pathLst>
                <a:path w="1044090" h="2875472">
                  <a:moveTo>
                    <a:pt x="0" y="0"/>
                  </a:moveTo>
                  <a:lnTo>
                    <a:pt x="1044090" y="0"/>
                  </a:lnTo>
                  <a:lnTo>
                    <a:pt x="1044090" y="2875472"/>
                  </a:lnTo>
                  <a:lnTo>
                    <a:pt x="0" y="2875472"/>
                  </a:lnTo>
                  <a:close/>
                </a:path>
              </a:pathLst>
            </a:custGeom>
            <a:solidFill>
              <a:srgbClr val="145DA0"/>
            </a:solidFill>
            <a:ln cap="sq">
              <a:noFill/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044090" cy="29135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1867766" y="-1614217"/>
            <a:ext cx="3735531" cy="3735531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952500" cap="sq">
              <a:solidFill>
                <a:srgbClr val="145DA0"/>
              </a:solidFill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9144000" y="8073906"/>
            <a:ext cx="5129624" cy="1359697"/>
          </a:xfrm>
          <a:custGeom>
            <a:avLst/>
            <a:gdLst/>
            <a:ahLst/>
            <a:cxnLst/>
            <a:rect l="l" t="t" r="r" b="b"/>
            <a:pathLst>
              <a:path w="5129624" h="1359697">
                <a:moveTo>
                  <a:pt x="0" y="0"/>
                </a:moveTo>
                <a:lnTo>
                  <a:pt x="5129624" y="0"/>
                </a:lnTo>
                <a:lnTo>
                  <a:pt x="5129624" y="1359698"/>
                </a:lnTo>
                <a:lnTo>
                  <a:pt x="0" y="135969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24589" b="-39295"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1867766" y="186874"/>
            <a:ext cx="12901618" cy="98411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30"/>
              </a:lnSpc>
            </a:pPr>
            <a:r>
              <a:rPr lang="en-US" sz="3521" b="1" dirty="0">
                <a:solidFill>
                  <a:srgbClr val="051D4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Dataset Time Information</a:t>
            </a:r>
          </a:p>
          <a:p>
            <a:pPr algn="l">
              <a:lnSpc>
                <a:spcPts val="4930"/>
              </a:lnSpc>
            </a:pPr>
            <a:endParaRPr lang="en-US" sz="3521" b="1" dirty="0">
              <a:solidFill>
                <a:srgbClr val="051D40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  <a:p>
            <a:pPr algn="l">
              <a:lnSpc>
                <a:spcPts val="4034"/>
              </a:lnSpc>
            </a:pPr>
            <a:r>
              <a:rPr lang="en-US" sz="2881" dirty="0">
                <a:solidFill>
                  <a:srgbClr val="051D40"/>
                </a:solidFill>
                <a:latin typeface="Montserrat"/>
                <a:ea typeface="Montserrat"/>
                <a:cs typeface="Montserrat"/>
                <a:sym typeface="Montserrat"/>
              </a:rPr>
              <a:t>Calendar Table (Main Time Dataset)</a:t>
            </a:r>
          </a:p>
          <a:p>
            <a:pPr marL="622151" lvl="1" indent="-311076" algn="l">
              <a:lnSpc>
                <a:spcPts val="4034"/>
              </a:lnSpc>
              <a:buFont typeface="Arial"/>
              <a:buChar char="•"/>
            </a:pPr>
            <a:r>
              <a:rPr lang="en-US" sz="2881" dirty="0">
                <a:solidFill>
                  <a:srgbClr val="051D40"/>
                </a:solidFill>
                <a:latin typeface="Montserrat"/>
                <a:ea typeface="Montserrat"/>
                <a:cs typeface="Montserrat"/>
                <a:sym typeface="Montserrat"/>
              </a:rPr>
              <a:t>Contains: date column</a:t>
            </a:r>
          </a:p>
          <a:p>
            <a:pPr marL="622151" lvl="1" indent="-311076" algn="l">
              <a:lnSpc>
                <a:spcPts val="4034"/>
              </a:lnSpc>
              <a:buFont typeface="Arial"/>
              <a:buChar char="•"/>
            </a:pPr>
            <a:r>
              <a:rPr lang="en-US" sz="2881" dirty="0">
                <a:solidFill>
                  <a:srgbClr val="051D40"/>
                </a:solidFill>
                <a:latin typeface="Montserrat"/>
                <a:ea typeface="Montserrat"/>
                <a:cs typeface="Montserrat"/>
                <a:sym typeface="Montserrat"/>
              </a:rPr>
              <a:t>This shows daily availability and pricing</a:t>
            </a:r>
          </a:p>
          <a:p>
            <a:pPr marL="622151" lvl="1" indent="-311076" algn="l">
              <a:lnSpc>
                <a:spcPts val="4034"/>
              </a:lnSpc>
              <a:buFont typeface="Arial"/>
              <a:buChar char="•"/>
            </a:pPr>
            <a:r>
              <a:rPr lang="en-US" sz="2881" dirty="0">
                <a:solidFill>
                  <a:srgbClr val="051D40"/>
                </a:solidFill>
                <a:latin typeface="Montserrat"/>
                <a:ea typeface="Montserrat"/>
                <a:cs typeface="Montserrat"/>
                <a:sym typeface="Montserrat"/>
              </a:rPr>
              <a:t>Usually spans 1 full year (example: 2019-01-01 to 2019-12-31 depending on dataset)</a:t>
            </a:r>
          </a:p>
          <a:p>
            <a:pPr algn="l">
              <a:lnSpc>
                <a:spcPts val="4034"/>
              </a:lnSpc>
            </a:pPr>
            <a:endParaRPr lang="en-US" sz="2881" dirty="0">
              <a:solidFill>
                <a:srgbClr val="051D4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l">
              <a:lnSpc>
                <a:spcPts val="4034"/>
              </a:lnSpc>
            </a:pPr>
            <a:r>
              <a:rPr lang="en-US" sz="2881" dirty="0">
                <a:solidFill>
                  <a:srgbClr val="051D40"/>
                </a:solidFill>
                <a:latin typeface="Montserrat"/>
                <a:ea typeface="Montserrat"/>
                <a:cs typeface="Montserrat"/>
                <a:sym typeface="Montserrat"/>
              </a:rPr>
              <a:t>Reviews Table (Historical Time Dataset)</a:t>
            </a:r>
          </a:p>
          <a:p>
            <a:pPr marL="622151" lvl="1" indent="-311076" algn="l">
              <a:lnSpc>
                <a:spcPts val="4034"/>
              </a:lnSpc>
              <a:buFont typeface="Arial"/>
              <a:buChar char="•"/>
            </a:pPr>
            <a:r>
              <a:rPr lang="en-US" sz="2881" dirty="0">
                <a:solidFill>
                  <a:srgbClr val="051D40"/>
                </a:solidFill>
                <a:latin typeface="Montserrat"/>
                <a:ea typeface="Montserrat"/>
                <a:cs typeface="Montserrat"/>
                <a:sym typeface="Montserrat"/>
              </a:rPr>
              <a:t>Contains: date column</a:t>
            </a:r>
          </a:p>
          <a:p>
            <a:pPr marL="622151" lvl="1" indent="-311076" algn="l">
              <a:lnSpc>
                <a:spcPts val="4034"/>
              </a:lnSpc>
              <a:buFont typeface="Arial"/>
              <a:buChar char="•"/>
            </a:pPr>
            <a:r>
              <a:rPr lang="en-US" sz="2881" dirty="0">
                <a:solidFill>
                  <a:srgbClr val="051D40"/>
                </a:solidFill>
                <a:latin typeface="Montserrat"/>
                <a:ea typeface="Montserrat"/>
                <a:cs typeface="Montserrat"/>
                <a:sym typeface="Montserrat"/>
              </a:rPr>
              <a:t>Shows when customers left reviews</a:t>
            </a:r>
          </a:p>
          <a:p>
            <a:pPr marL="622151" lvl="1" indent="-311076" algn="l">
              <a:lnSpc>
                <a:spcPts val="4034"/>
              </a:lnSpc>
              <a:buFont typeface="Arial"/>
              <a:buChar char="•"/>
            </a:pPr>
            <a:r>
              <a:rPr lang="en-US" sz="2881" dirty="0">
                <a:solidFill>
                  <a:srgbClr val="051D40"/>
                </a:solidFill>
                <a:latin typeface="Montserrat"/>
                <a:ea typeface="Montserrat"/>
                <a:cs typeface="Montserrat"/>
                <a:sym typeface="Montserrat"/>
              </a:rPr>
              <a:t>Covers multiple years ((2008–2023)</a:t>
            </a:r>
          </a:p>
          <a:p>
            <a:pPr algn="l">
              <a:lnSpc>
                <a:spcPts val="4034"/>
              </a:lnSpc>
            </a:pPr>
            <a:endParaRPr lang="en-US" sz="2881" dirty="0">
              <a:solidFill>
                <a:srgbClr val="051D4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l">
              <a:lnSpc>
                <a:spcPts val="4034"/>
              </a:lnSpc>
            </a:pPr>
            <a:r>
              <a:rPr lang="en-US" sz="2881" dirty="0">
                <a:solidFill>
                  <a:srgbClr val="051D40"/>
                </a:solidFill>
                <a:latin typeface="Montserrat"/>
                <a:ea typeface="Montserrat"/>
                <a:cs typeface="Montserrat"/>
                <a:sym typeface="Montserrat"/>
              </a:rPr>
              <a:t>Listings Table</a:t>
            </a:r>
          </a:p>
          <a:p>
            <a:pPr marL="622151" lvl="1" indent="-311076" algn="l">
              <a:lnSpc>
                <a:spcPts val="4034"/>
              </a:lnSpc>
              <a:buFont typeface="Arial"/>
              <a:buChar char="•"/>
            </a:pPr>
            <a:r>
              <a:rPr lang="en-US" sz="2881" dirty="0">
                <a:solidFill>
                  <a:srgbClr val="051D40"/>
                </a:solidFill>
                <a:latin typeface="Montserrat"/>
                <a:ea typeface="Montserrat"/>
                <a:cs typeface="Montserrat"/>
                <a:sym typeface="Montserrat"/>
              </a:rPr>
              <a:t>Contains:</a:t>
            </a:r>
          </a:p>
          <a:p>
            <a:pPr marL="1244303" lvl="2" indent="-414768" algn="l">
              <a:lnSpc>
                <a:spcPts val="4034"/>
              </a:lnSpc>
              <a:buFont typeface="Arial"/>
              <a:buChar char="⚬"/>
            </a:pPr>
            <a:r>
              <a:rPr lang="en-US" sz="2881" dirty="0" err="1">
                <a:solidFill>
                  <a:srgbClr val="051D40"/>
                </a:solidFill>
                <a:latin typeface="Montserrat"/>
                <a:ea typeface="Montserrat"/>
                <a:cs typeface="Montserrat"/>
                <a:sym typeface="Montserrat"/>
              </a:rPr>
              <a:t>host_since</a:t>
            </a:r>
            <a:r>
              <a:rPr lang="en-US" sz="2881" dirty="0">
                <a:solidFill>
                  <a:srgbClr val="051D40"/>
                </a:solidFill>
                <a:latin typeface="Montserrat"/>
                <a:ea typeface="Montserrat"/>
                <a:cs typeface="Montserrat"/>
                <a:sym typeface="Montserrat"/>
              </a:rPr>
              <a:t> → When host joined</a:t>
            </a:r>
          </a:p>
          <a:p>
            <a:pPr marL="1244303" lvl="2" indent="-414768" algn="l">
              <a:lnSpc>
                <a:spcPts val="4034"/>
              </a:lnSpc>
              <a:buFont typeface="Arial"/>
              <a:buChar char="⚬"/>
            </a:pPr>
            <a:r>
              <a:rPr lang="en-US" sz="2881" dirty="0" err="1">
                <a:solidFill>
                  <a:srgbClr val="051D40"/>
                </a:solidFill>
                <a:latin typeface="Montserrat"/>
                <a:ea typeface="Montserrat"/>
                <a:cs typeface="Montserrat"/>
                <a:sym typeface="Montserrat"/>
              </a:rPr>
              <a:t>last_review</a:t>
            </a:r>
            <a:r>
              <a:rPr lang="en-US" sz="2881" dirty="0">
                <a:solidFill>
                  <a:srgbClr val="051D40"/>
                </a:solidFill>
                <a:latin typeface="Montserrat"/>
                <a:ea typeface="Montserrat"/>
                <a:cs typeface="Montserrat"/>
                <a:sym typeface="Montserrat"/>
              </a:rPr>
              <a:t> → Last review date</a:t>
            </a:r>
          </a:p>
          <a:p>
            <a:pPr marL="1244303" lvl="2" indent="-414768" algn="l">
              <a:lnSpc>
                <a:spcPts val="4034"/>
              </a:lnSpc>
              <a:buFont typeface="Arial"/>
              <a:buChar char="⚬"/>
            </a:pPr>
            <a:r>
              <a:rPr lang="en-US" sz="2881" dirty="0" err="1">
                <a:solidFill>
                  <a:srgbClr val="051D40"/>
                </a:solidFill>
                <a:latin typeface="Montserrat"/>
                <a:ea typeface="Montserrat"/>
                <a:cs typeface="Montserrat"/>
                <a:sym typeface="Montserrat"/>
              </a:rPr>
              <a:t>first_review</a:t>
            </a:r>
            <a:r>
              <a:rPr lang="en-US" sz="2881" dirty="0">
                <a:solidFill>
                  <a:srgbClr val="051D40"/>
                </a:solidFill>
                <a:latin typeface="Montserrat"/>
                <a:ea typeface="Montserrat"/>
                <a:cs typeface="Montserrat"/>
                <a:sym typeface="Montserrat"/>
              </a:rPr>
              <a:t> → First review date</a:t>
            </a:r>
          </a:p>
          <a:p>
            <a:pPr algn="l">
              <a:lnSpc>
                <a:spcPts val="4314"/>
              </a:lnSpc>
              <a:spcBef>
                <a:spcPct val="0"/>
              </a:spcBef>
            </a:pPr>
            <a:endParaRPr lang="en-US" sz="2881" dirty="0">
              <a:solidFill>
                <a:srgbClr val="051D4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692337"/>
            <a:ext cx="16230600" cy="8565963"/>
            <a:chOff x="0" y="0"/>
            <a:chExt cx="4544929" cy="239866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544929" cy="2398660"/>
            </a:xfrm>
            <a:custGeom>
              <a:avLst/>
              <a:gdLst/>
              <a:ahLst/>
              <a:cxnLst/>
              <a:rect l="l" t="t" r="r" b="b"/>
              <a:pathLst>
                <a:path w="4544929" h="2398660">
                  <a:moveTo>
                    <a:pt x="0" y="0"/>
                  </a:moveTo>
                  <a:lnTo>
                    <a:pt x="4544929" y="0"/>
                  </a:lnTo>
                  <a:lnTo>
                    <a:pt x="4544929" y="2398660"/>
                  </a:lnTo>
                  <a:lnTo>
                    <a:pt x="0" y="2398660"/>
                  </a:lnTo>
                  <a:close/>
                </a:path>
              </a:pathLst>
            </a:custGeom>
            <a:solidFill>
              <a:srgbClr val="145DA0">
                <a:alpha val="95686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544929" cy="24367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028700" y="7883377"/>
            <a:ext cx="16230600" cy="1891864"/>
            <a:chOff x="0" y="0"/>
            <a:chExt cx="4544929" cy="52976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544929" cy="529764"/>
            </a:xfrm>
            <a:custGeom>
              <a:avLst/>
              <a:gdLst/>
              <a:ahLst/>
              <a:cxnLst/>
              <a:rect l="l" t="t" r="r" b="b"/>
              <a:pathLst>
                <a:path w="4544929" h="529764">
                  <a:moveTo>
                    <a:pt x="0" y="0"/>
                  </a:moveTo>
                  <a:lnTo>
                    <a:pt x="4544929" y="0"/>
                  </a:lnTo>
                  <a:lnTo>
                    <a:pt x="4544929" y="529764"/>
                  </a:lnTo>
                  <a:lnTo>
                    <a:pt x="0" y="529764"/>
                  </a:lnTo>
                  <a:close/>
                </a:path>
              </a:pathLst>
            </a:custGeom>
            <a:solidFill>
              <a:srgbClr val="145DA0">
                <a:alpha val="48627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4544929" cy="5678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-3724222" y="-4507687"/>
            <a:ext cx="5924489" cy="5924489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45DA0">
                <a:alpha val="95686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5854669" y="8593207"/>
            <a:ext cx="7523780" cy="7523780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45DA0">
                <a:alpha val="95686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4" name="Freeform 14"/>
          <p:cNvSpPr/>
          <p:nvPr/>
        </p:nvSpPr>
        <p:spPr>
          <a:xfrm>
            <a:off x="834667" y="948249"/>
            <a:ext cx="16618667" cy="8054138"/>
          </a:xfrm>
          <a:custGeom>
            <a:avLst/>
            <a:gdLst/>
            <a:ahLst/>
            <a:cxnLst/>
            <a:rect l="l" t="t" r="r" b="b"/>
            <a:pathLst>
              <a:path w="16618667" h="8054138">
                <a:moveTo>
                  <a:pt x="0" y="0"/>
                </a:moveTo>
                <a:lnTo>
                  <a:pt x="16618666" y="0"/>
                </a:lnTo>
                <a:lnTo>
                  <a:pt x="16618666" y="8054139"/>
                </a:lnTo>
                <a:lnTo>
                  <a:pt x="0" y="805413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b="-26639"/>
            </a:stretch>
          </a:blipFill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3724222" y="-4507687"/>
            <a:ext cx="5924489" cy="5924489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45DA0">
                <a:alpha val="95686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5854669" y="8593207"/>
            <a:ext cx="7523780" cy="7523780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45DA0">
                <a:alpha val="95686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595923" y="498432"/>
            <a:ext cx="17096155" cy="8759868"/>
          </a:xfrm>
          <a:custGeom>
            <a:avLst/>
            <a:gdLst/>
            <a:ahLst/>
            <a:cxnLst/>
            <a:rect l="l" t="t" r="r" b="b"/>
            <a:pathLst>
              <a:path w="17096155" h="8759868">
                <a:moveTo>
                  <a:pt x="0" y="0"/>
                </a:moveTo>
                <a:lnTo>
                  <a:pt x="17096154" y="0"/>
                </a:lnTo>
                <a:lnTo>
                  <a:pt x="17096154" y="8759868"/>
                </a:lnTo>
                <a:lnTo>
                  <a:pt x="0" y="875986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7679" b="-5759"/>
            </a:stretch>
          </a:blipFill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3724222" y="-4507687"/>
            <a:ext cx="5924489" cy="5924489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45DA0">
                <a:alpha val="95686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5854669" y="8593207"/>
            <a:ext cx="7523780" cy="7523780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45DA0">
                <a:alpha val="95686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549659" y="355973"/>
            <a:ext cx="17110774" cy="8902327"/>
          </a:xfrm>
          <a:custGeom>
            <a:avLst/>
            <a:gdLst/>
            <a:ahLst/>
            <a:cxnLst/>
            <a:rect l="l" t="t" r="r" b="b"/>
            <a:pathLst>
              <a:path w="17110774" h="8902327">
                <a:moveTo>
                  <a:pt x="0" y="0"/>
                </a:moveTo>
                <a:lnTo>
                  <a:pt x="17110774" y="0"/>
                </a:lnTo>
                <a:lnTo>
                  <a:pt x="17110774" y="8902327"/>
                </a:lnTo>
                <a:lnTo>
                  <a:pt x="0" y="890232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6674"/>
            </a:stretch>
          </a:blipFill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8472756" y="-2445901"/>
            <a:ext cx="15178802" cy="15178802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38100" cap="sq">
              <a:solidFill>
                <a:srgbClr val="145DA0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7824314" y="-1797460"/>
            <a:ext cx="13881919" cy="13881919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45DA0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028700" y="3399437"/>
            <a:ext cx="6033363" cy="7955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553"/>
              </a:lnSpc>
              <a:spcBef>
                <a:spcPct val="0"/>
              </a:spcBef>
            </a:pPr>
            <a:r>
              <a:rPr lang="en-US" sz="4680" b="1">
                <a:solidFill>
                  <a:srgbClr val="FDFDF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Key questions</a:t>
            </a:r>
          </a:p>
        </p:txBody>
      </p:sp>
      <p:sp>
        <p:nvSpPr>
          <p:cNvPr id="9" name="Freeform 9"/>
          <p:cNvSpPr/>
          <p:nvPr/>
        </p:nvSpPr>
        <p:spPr>
          <a:xfrm>
            <a:off x="6536739" y="803607"/>
            <a:ext cx="1424256" cy="1424256"/>
          </a:xfrm>
          <a:custGeom>
            <a:avLst/>
            <a:gdLst/>
            <a:ahLst/>
            <a:cxnLst/>
            <a:rect l="l" t="t" r="r" b="b"/>
            <a:pathLst>
              <a:path w="1424256" h="1424256">
                <a:moveTo>
                  <a:pt x="0" y="0"/>
                </a:moveTo>
                <a:lnTo>
                  <a:pt x="1424256" y="0"/>
                </a:lnTo>
                <a:lnTo>
                  <a:pt x="1424256" y="1424255"/>
                </a:lnTo>
                <a:lnTo>
                  <a:pt x="0" y="142425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0" name="TextBox 10"/>
          <p:cNvSpPr txBox="1"/>
          <p:nvPr/>
        </p:nvSpPr>
        <p:spPr>
          <a:xfrm>
            <a:off x="8161020" y="403168"/>
            <a:ext cx="7863729" cy="17562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75"/>
              </a:lnSpc>
            </a:pPr>
            <a:r>
              <a:rPr lang="en-US" sz="2482" b="1" spc="-49">
                <a:solidFill>
                  <a:srgbClr val="145DA0"/>
                </a:solidFill>
                <a:latin typeface="Poppins Bold"/>
                <a:ea typeface="Poppins Bold"/>
                <a:cs typeface="Poppins Bold"/>
                <a:sym typeface="Poppins Bold"/>
              </a:rPr>
              <a:t>High-D</a:t>
            </a:r>
            <a:r>
              <a:rPr lang="en-US" sz="2482" b="1" u="none" strike="noStrike" spc="-49">
                <a:solidFill>
                  <a:srgbClr val="145DA0"/>
                </a:solidFill>
                <a:latin typeface="Poppins Bold"/>
                <a:ea typeface="Poppins Bold"/>
                <a:cs typeface="Poppins Bold"/>
                <a:sym typeface="Poppins Bold"/>
              </a:rPr>
              <a:t>emand Areas:</a:t>
            </a:r>
          </a:p>
          <a:p>
            <a:pPr algn="l">
              <a:lnSpc>
                <a:spcPts val="3475"/>
              </a:lnSpc>
            </a:pPr>
            <a:r>
              <a:rPr lang="en-US" sz="2482" u="none" strike="noStrike" spc="-49">
                <a:solidFill>
                  <a:srgbClr val="145DA0"/>
                </a:solidFill>
                <a:latin typeface="Poppins"/>
                <a:ea typeface="Poppins"/>
                <a:cs typeface="Poppins"/>
                <a:sym typeface="Poppins"/>
              </a:rPr>
              <a:t> Which neighborhoods or locations have the highest booking demand based on availability and review frequency?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681797" y="1092855"/>
            <a:ext cx="1134140" cy="801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697"/>
              </a:lnSpc>
              <a:spcBef>
                <a:spcPct val="0"/>
              </a:spcBef>
            </a:pPr>
            <a:r>
              <a:rPr lang="en-US" sz="4784">
                <a:solidFill>
                  <a:srgbClr val="FDFDFD"/>
                </a:solidFill>
                <a:latin typeface="Montserrat"/>
                <a:ea typeface="Montserrat"/>
                <a:cs typeface="Montserrat"/>
                <a:sym typeface="Montserrat"/>
              </a:rPr>
              <a:t>01</a:t>
            </a:r>
          </a:p>
        </p:txBody>
      </p:sp>
      <p:sp>
        <p:nvSpPr>
          <p:cNvPr id="12" name="Freeform 12"/>
          <p:cNvSpPr/>
          <p:nvPr/>
        </p:nvSpPr>
        <p:spPr>
          <a:xfrm>
            <a:off x="7248867" y="2673741"/>
            <a:ext cx="1424256" cy="1424256"/>
          </a:xfrm>
          <a:custGeom>
            <a:avLst/>
            <a:gdLst/>
            <a:ahLst/>
            <a:cxnLst/>
            <a:rect l="l" t="t" r="r" b="b"/>
            <a:pathLst>
              <a:path w="1424256" h="1424256">
                <a:moveTo>
                  <a:pt x="0" y="0"/>
                </a:moveTo>
                <a:lnTo>
                  <a:pt x="1424255" y="0"/>
                </a:lnTo>
                <a:lnTo>
                  <a:pt x="1424255" y="1424256"/>
                </a:lnTo>
                <a:lnTo>
                  <a:pt x="0" y="142425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3" name="TextBox 13"/>
          <p:cNvSpPr txBox="1"/>
          <p:nvPr/>
        </p:nvSpPr>
        <p:spPr>
          <a:xfrm>
            <a:off x="8940045" y="2617999"/>
            <a:ext cx="7385296" cy="13180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75"/>
              </a:lnSpc>
            </a:pPr>
            <a:r>
              <a:rPr lang="en-US" sz="2482" b="1" spc="-49">
                <a:solidFill>
                  <a:srgbClr val="145DA0"/>
                </a:solidFill>
                <a:latin typeface="Poppins Bold"/>
                <a:ea typeface="Poppins Bold"/>
                <a:cs typeface="Poppins Bold"/>
                <a:sym typeface="Poppins Bold"/>
              </a:rPr>
              <a:t>P</a:t>
            </a:r>
            <a:r>
              <a:rPr lang="en-US" sz="2482" b="1" u="none" strike="noStrike" spc="-49">
                <a:solidFill>
                  <a:srgbClr val="145DA0"/>
                </a:solidFill>
                <a:latin typeface="Poppins Bold"/>
                <a:ea typeface="Poppins Bold"/>
                <a:cs typeface="Poppins Bold"/>
                <a:sym typeface="Poppins Bold"/>
              </a:rPr>
              <a:t>ricing Optimization:</a:t>
            </a:r>
          </a:p>
          <a:p>
            <a:pPr algn="l">
              <a:lnSpc>
                <a:spcPts val="3475"/>
              </a:lnSpc>
            </a:pPr>
            <a:r>
              <a:rPr lang="en-US" sz="2482" u="none" strike="noStrike" spc="-49">
                <a:solidFill>
                  <a:srgbClr val="145DA0"/>
                </a:solidFill>
                <a:latin typeface="Poppins"/>
                <a:ea typeface="Poppins"/>
                <a:cs typeface="Poppins"/>
                <a:sym typeface="Poppins"/>
              </a:rPr>
              <a:t> How do pricing patterns vary based on property type, room type, location, and seasonality?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393925" y="2915365"/>
            <a:ext cx="1134140" cy="801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697"/>
              </a:lnSpc>
              <a:spcBef>
                <a:spcPct val="0"/>
              </a:spcBef>
            </a:pPr>
            <a:r>
              <a:rPr lang="en-US" sz="4784">
                <a:solidFill>
                  <a:srgbClr val="FDFDFD"/>
                </a:solidFill>
                <a:latin typeface="Montserrat"/>
                <a:ea typeface="Montserrat"/>
                <a:cs typeface="Montserrat"/>
                <a:sym typeface="Montserrat"/>
              </a:rPr>
              <a:t>02</a:t>
            </a:r>
          </a:p>
        </p:txBody>
      </p:sp>
      <p:sp>
        <p:nvSpPr>
          <p:cNvPr id="15" name="Freeform 15"/>
          <p:cNvSpPr/>
          <p:nvPr/>
        </p:nvSpPr>
        <p:spPr>
          <a:xfrm>
            <a:off x="7515789" y="4431372"/>
            <a:ext cx="1424256" cy="1424256"/>
          </a:xfrm>
          <a:custGeom>
            <a:avLst/>
            <a:gdLst/>
            <a:ahLst/>
            <a:cxnLst/>
            <a:rect l="l" t="t" r="r" b="b"/>
            <a:pathLst>
              <a:path w="1424256" h="1424256">
                <a:moveTo>
                  <a:pt x="0" y="0"/>
                </a:moveTo>
                <a:lnTo>
                  <a:pt x="1424256" y="0"/>
                </a:lnTo>
                <a:lnTo>
                  <a:pt x="1424256" y="1424256"/>
                </a:lnTo>
                <a:lnTo>
                  <a:pt x="0" y="142425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6" name="TextBox 16"/>
          <p:cNvSpPr txBox="1"/>
          <p:nvPr/>
        </p:nvSpPr>
        <p:spPr>
          <a:xfrm>
            <a:off x="9349620" y="4420788"/>
            <a:ext cx="7042173" cy="17562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75"/>
              </a:lnSpc>
            </a:pPr>
            <a:r>
              <a:rPr lang="en-US" sz="2482" b="1" spc="-49">
                <a:solidFill>
                  <a:srgbClr val="145DA0"/>
                </a:solidFill>
                <a:latin typeface="Poppins Bold"/>
                <a:ea typeface="Poppins Bold"/>
                <a:cs typeface="Poppins Bold"/>
                <a:sym typeface="Poppins Bold"/>
              </a:rPr>
              <a:t>H</a:t>
            </a:r>
            <a:r>
              <a:rPr lang="en-US" sz="2482" b="1" u="none" strike="noStrike" spc="-49">
                <a:solidFill>
                  <a:srgbClr val="145DA0"/>
                </a:solidFill>
                <a:latin typeface="Poppins Bold"/>
                <a:ea typeface="Poppins Bold"/>
                <a:cs typeface="Poppins Bold"/>
                <a:sym typeface="Poppins Bold"/>
              </a:rPr>
              <a:t>ost Performance &amp; Market Concentration:</a:t>
            </a:r>
          </a:p>
          <a:p>
            <a:pPr algn="l">
              <a:lnSpc>
                <a:spcPts val="3475"/>
              </a:lnSpc>
            </a:pPr>
            <a:r>
              <a:rPr lang="en-US" sz="2482" u="none" strike="noStrike" spc="-49">
                <a:solidFill>
                  <a:srgbClr val="145DA0"/>
                </a:solidFill>
                <a:latin typeface="Poppins"/>
                <a:ea typeface="Poppins"/>
                <a:cs typeface="Poppins"/>
                <a:sym typeface="Poppins"/>
              </a:rPr>
              <a:t> Are a small number of hosts controlling a large portion of listings, indicating professional hosting vs individual hosting?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660847" y="4704584"/>
            <a:ext cx="1134140" cy="801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697"/>
              </a:lnSpc>
              <a:spcBef>
                <a:spcPct val="0"/>
              </a:spcBef>
            </a:pPr>
            <a:r>
              <a:rPr lang="en-US" sz="4784">
                <a:solidFill>
                  <a:srgbClr val="FDFDFD"/>
                </a:solidFill>
                <a:latin typeface="Montserrat"/>
                <a:ea typeface="Montserrat"/>
                <a:cs typeface="Montserrat"/>
                <a:sym typeface="Montserrat"/>
              </a:rPr>
              <a:t>03</a:t>
            </a:r>
          </a:p>
        </p:txBody>
      </p:sp>
      <p:sp>
        <p:nvSpPr>
          <p:cNvPr id="18" name="Freeform 18"/>
          <p:cNvSpPr/>
          <p:nvPr/>
        </p:nvSpPr>
        <p:spPr>
          <a:xfrm>
            <a:off x="7248867" y="6282804"/>
            <a:ext cx="1424256" cy="1424256"/>
          </a:xfrm>
          <a:custGeom>
            <a:avLst/>
            <a:gdLst/>
            <a:ahLst/>
            <a:cxnLst/>
            <a:rect l="l" t="t" r="r" b="b"/>
            <a:pathLst>
              <a:path w="1424256" h="1424256">
                <a:moveTo>
                  <a:pt x="0" y="0"/>
                </a:moveTo>
                <a:lnTo>
                  <a:pt x="1424255" y="0"/>
                </a:lnTo>
                <a:lnTo>
                  <a:pt x="1424255" y="1424255"/>
                </a:lnTo>
                <a:lnTo>
                  <a:pt x="0" y="142425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9" name="TextBox 19"/>
          <p:cNvSpPr txBox="1"/>
          <p:nvPr/>
        </p:nvSpPr>
        <p:spPr>
          <a:xfrm>
            <a:off x="8863622" y="6472287"/>
            <a:ext cx="7385296" cy="13180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75"/>
              </a:lnSpc>
            </a:pPr>
            <a:r>
              <a:rPr lang="en-US" sz="2482" b="1" spc="-49">
                <a:solidFill>
                  <a:srgbClr val="145DA0"/>
                </a:solidFill>
                <a:latin typeface="Poppins Bold"/>
                <a:ea typeface="Poppins Bold"/>
                <a:cs typeface="Poppins Bold"/>
                <a:sym typeface="Poppins Bold"/>
              </a:rPr>
              <a:t>Ava</a:t>
            </a:r>
            <a:r>
              <a:rPr lang="en-US" sz="2482" b="1" u="none" strike="noStrike" spc="-49">
                <a:solidFill>
                  <a:srgbClr val="145DA0"/>
                </a:solidFill>
                <a:latin typeface="Poppins Bold"/>
                <a:ea typeface="Poppins Bold"/>
                <a:cs typeface="Poppins Bold"/>
                <a:sym typeface="Poppins Bold"/>
              </a:rPr>
              <a:t>ilability &amp; Occupancy Trends:</a:t>
            </a:r>
          </a:p>
          <a:p>
            <a:pPr algn="l">
              <a:lnSpc>
                <a:spcPts val="3475"/>
              </a:lnSpc>
            </a:pPr>
            <a:r>
              <a:rPr lang="en-US" sz="2482" u="none" strike="noStrike" spc="-49">
                <a:solidFill>
                  <a:srgbClr val="145DA0"/>
                </a:solidFill>
                <a:latin typeface="Poppins"/>
                <a:ea typeface="Poppins"/>
                <a:cs typeface="Poppins"/>
                <a:sym typeface="Poppins"/>
              </a:rPr>
              <a:t> Which listings have the lowest availability indicating higher occupancy and demand?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7393925" y="6616179"/>
            <a:ext cx="1134140" cy="801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697"/>
              </a:lnSpc>
              <a:spcBef>
                <a:spcPct val="0"/>
              </a:spcBef>
            </a:pPr>
            <a:r>
              <a:rPr lang="en-US" sz="4784">
                <a:solidFill>
                  <a:srgbClr val="FDFDFD"/>
                </a:solidFill>
                <a:latin typeface="Montserrat"/>
                <a:ea typeface="Montserrat"/>
                <a:cs typeface="Montserrat"/>
                <a:sym typeface="Montserrat"/>
              </a:rPr>
              <a:t>04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6110368" y="1499690"/>
            <a:ext cx="373607" cy="373607"/>
            <a:chOff x="0" y="0"/>
            <a:chExt cx="812800" cy="8128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FDFD"/>
            </a:solidFill>
            <a:ln w="38100" cap="sq">
              <a:solidFill>
                <a:srgbClr val="00569E"/>
              </a:solidFill>
              <a:prstDash val="solid"/>
              <a:miter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640"/>
                </a:lnSpc>
              </a:pPr>
              <a:endParaRPr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6700349" y="3401989"/>
            <a:ext cx="373607" cy="373607"/>
            <a:chOff x="0" y="0"/>
            <a:chExt cx="812800" cy="81280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FDFD"/>
            </a:solidFill>
            <a:ln w="38100" cap="sq">
              <a:solidFill>
                <a:srgbClr val="00569E"/>
              </a:solidFill>
              <a:prstDash val="solid"/>
              <a:miter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640"/>
                </a:lnSpc>
              </a:pPr>
              <a:endParaRPr/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6688456" y="6692379"/>
            <a:ext cx="373607" cy="373607"/>
            <a:chOff x="0" y="0"/>
            <a:chExt cx="812800" cy="81280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FDFD"/>
            </a:solidFill>
            <a:ln w="38100" cap="sq">
              <a:solidFill>
                <a:srgbClr val="00569E"/>
              </a:solidFill>
              <a:prstDash val="solid"/>
              <a:miter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640"/>
                </a:lnSpc>
              </a:pPr>
              <a:endParaRPr/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6875259" y="4956696"/>
            <a:ext cx="373607" cy="373607"/>
            <a:chOff x="0" y="0"/>
            <a:chExt cx="812800" cy="812800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FDFD"/>
            </a:solidFill>
            <a:ln w="38100" cap="sq">
              <a:solidFill>
                <a:srgbClr val="00569E"/>
              </a:solidFill>
              <a:prstDash val="solid"/>
              <a:miter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640"/>
                </a:lnSpc>
              </a:pPr>
              <a:endParaRPr/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6110368" y="8544576"/>
            <a:ext cx="373607" cy="373607"/>
            <a:chOff x="0" y="0"/>
            <a:chExt cx="812800" cy="812800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FDFD"/>
            </a:solidFill>
            <a:ln w="38100" cap="sq">
              <a:solidFill>
                <a:srgbClr val="00569E"/>
              </a:solidFill>
              <a:prstDash val="solid"/>
              <a:miter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640"/>
                </a:lnSpc>
              </a:pPr>
              <a:endParaRPr/>
            </a:p>
          </p:txBody>
        </p:sp>
      </p:grpSp>
      <p:sp>
        <p:nvSpPr>
          <p:cNvPr id="36" name="TextBox 36"/>
          <p:cNvSpPr txBox="1"/>
          <p:nvPr/>
        </p:nvSpPr>
        <p:spPr>
          <a:xfrm>
            <a:off x="6875259" y="8058035"/>
            <a:ext cx="1134140" cy="801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697"/>
              </a:lnSpc>
              <a:spcBef>
                <a:spcPct val="0"/>
              </a:spcBef>
            </a:pPr>
            <a:r>
              <a:rPr lang="en-US" sz="4784">
                <a:solidFill>
                  <a:srgbClr val="FDFDFD"/>
                </a:solidFill>
                <a:latin typeface="Montserrat"/>
                <a:ea typeface="Montserrat"/>
                <a:cs typeface="Montserrat"/>
                <a:sym typeface="Montserrat"/>
              </a:rPr>
              <a:t>04</a:t>
            </a:r>
          </a:p>
        </p:txBody>
      </p:sp>
      <p:sp>
        <p:nvSpPr>
          <p:cNvPr id="37" name="Freeform 37"/>
          <p:cNvSpPr/>
          <p:nvPr/>
        </p:nvSpPr>
        <p:spPr>
          <a:xfrm>
            <a:off x="6700349" y="8248535"/>
            <a:ext cx="1424256" cy="1424256"/>
          </a:xfrm>
          <a:custGeom>
            <a:avLst/>
            <a:gdLst/>
            <a:ahLst/>
            <a:cxnLst/>
            <a:rect l="l" t="t" r="r" b="b"/>
            <a:pathLst>
              <a:path w="1424256" h="1424256">
                <a:moveTo>
                  <a:pt x="0" y="0"/>
                </a:moveTo>
                <a:lnTo>
                  <a:pt x="1424256" y="0"/>
                </a:lnTo>
                <a:lnTo>
                  <a:pt x="1424256" y="1424256"/>
                </a:lnTo>
                <a:lnTo>
                  <a:pt x="0" y="142425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38" name="TextBox 38"/>
          <p:cNvSpPr txBox="1"/>
          <p:nvPr/>
        </p:nvSpPr>
        <p:spPr>
          <a:xfrm>
            <a:off x="6845407" y="8524760"/>
            <a:ext cx="1134140" cy="801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697"/>
              </a:lnSpc>
              <a:spcBef>
                <a:spcPct val="0"/>
              </a:spcBef>
            </a:pPr>
            <a:r>
              <a:rPr lang="en-US" sz="4784">
                <a:solidFill>
                  <a:srgbClr val="FDFDFD"/>
                </a:solidFill>
                <a:latin typeface="Montserrat"/>
                <a:ea typeface="Montserrat"/>
                <a:cs typeface="Montserrat"/>
                <a:sym typeface="Montserrat"/>
              </a:rPr>
              <a:t>05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8343680" y="8218985"/>
            <a:ext cx="7876663" cy="13180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75"/>
              </a:lnSpc>
            </a:pPr>
            <a:r>
              <a:rPr lang="en-US" sz="2482" b="1" spc="-49">
                <a:solidFill>
                  <a:srgbClr val="145DA0"/>
                </a:solidFill>
                <a:latin typeface="Poppins Bold"/>
                <a:ea typeface="Poppins Bold"/>
                <a:cs typeface="Poppins Bold"/>
                <a:sym typeface="Poppins Bold"/>
              </a:rPr>
              <a:t>Customer Sat</a:t>
            </a:r>
            <a:r>
              <a:rPr lang="en-US" sz="2482" b="1" u="none" strike="noStrike" spc="-49">
                <a:solidFill>
                  <a:srgbClr val="145DA0"/>
                </a:solidFill>
                <a:latin typeface="Poppins Bold"/>
                <a:ea typeface="Poppins Bold"/>
                <a:cs typeface="Poppins Bold"/>
                <a:sym typeface="Poppins Bold"/>
              </a:rPr>
              <a:t>isfaction Analysis:</a:t>
            </a:r>
          </a:p>
          <a:p>
            <a:pPr algn="l">
              <a:lnSpc>
                <a:spcPts val="3475"/>
              </a:lnSpc>
            </a:pPr>
            <a:r>
              <a:rPr lang="en-US" sz="2482" u="none" strike="noStrike" spc="-49">
                <a:solidFill>
                  <a:srgbClr val="145DA0"/>
                </a:solidFill>
                <a:latin typeface="Poppins"/>
                <a:ea typeface="Poppins"/>
                <a:cs typeface="Poppins"/>
                <a:sym typeface="Poppins"/>
              </a:rPr>
              <a:t> Do higher-priced listings receive better reviews, or is affordability more valued by customers?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057400" y="-1781888"/>
            <a:ext cx="3735531" cy="3735531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952500" cap="sq">
              <a:solidFill>
                <a:srgbClr val="145DA0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490363" y="4352094"/>
            <a:ext cx="15608637" cy="5521555"/>
          </a:xfrm>
          <a:custGeom>
            <a:avLst/>
            <a:gdLst/>
            <a:ahLst/>
            <a:cxnLst/>
            <a:rect l="l" t="t" r="r" b="b"/>
            <a:pathLst>
              <a:path w="15608637" h="5521555">
                <a:moveTo>
                  <a:pt x="0" y="0"/>
                </a:moveTo>
                <a:lnTo>
                  <a:pt x="15608637" y="0"/>
                </a:lnTo>
                <a:lnTo>
                  <a:pt x="15608637" y="5521555"/>
                </a:lnTo>
                <a:lnTo>
                  <a:pt x="0" y="552155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609600" y="2234850"/>
            <a:ext cx="14185305" cy="24116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82925" lvl="1" indent="-291463" algn="l">
              <a:lnSpc>
                <a:spcPts val="3779"/>
              </a:lnSpc>
              <a:spcBef>
                <a:spcPct val="0"/>
              </a:spcBef>
              <a:buFont typeface="Arial"/>
              <a:buChar char="•"/>
            </a:pPr>
            <a:r>
              <a:rPr lang="en-US" sz="2699" dirty="0">
                <a:solidFill>
                  <a:srgbClr val="051D40"/>
                </a:solidFill>
                <a:latin typeface="Poppins" panose="00000500000000000000" pitchFamily="2" charset="0"/>
                <a:ea typeface="Montserrat"/>
                <a:cs typeface="Poppins" panose="00000500000000000000" pitchFamily="2" charset="0"/>
                <a:sym typeface="Montserrat"/>
              </a:rPr>
              <a:t>Broadway dominates with 8,919 reviews and only 246 avg available days</a:t>
            </a:r>
          </a:p>
          <a:p>
            <a:pPr marL="582925" lvl="1" indent="-291463" algn="l">
              <a:lnSpc>
                <a:spcPts val="3779"/>
              </a:lnSpc>
              <a:spcBef>
                <a:spcPct val="0"/>
              </a:spcBef>
              <a:buFont typeface="Arial"/>
              <a:buChar char="•"/>
            </a:pPr>
            <a:r>
              <a:rPr lang="en-US" sz="2699" dirty="0">
                <a:solidFill>
                  <a:srgbClr val="051D40"/>
                </a:solidFill>
                <a:latin typeface="Poppins" panose="00000500000000000000" pitchFamily="2" charset="0"/>
                <a:ea typeface="Montserrat"/>
                <a:cs typeface="Poppins" panose="00000500000000000000" pitchFamily="2" charset="0"/>
                <a:sym typeface="Montserrat"/>
              </a:rPr>
              <a:t>Belltown &amp; First Hill have the lowest availability (~233 days) = highest occupancy</a:t>
            </a:r>
          </a:p>
          <a:p>
            <a:pPr marL="582925" lvl="1" indent="-291463" algn="l">
              <a:lnSpc>
                <a:spcPts val="3779"/>
              </a:lnSpc>
              <a:spcBef>
                <a:spcPct val="0"/>
              </a:spcBef>
              <a:buFont typeface="Arial"/>
              <a:buChar char="•"/>
            </a:pPr>
            <a:r>
              <a:rPr lang="en-US" sz="2699" dirty="0">
                <a:solidFill>
                  <a:srgbClr val="051D40"/>
                </a:solidFill>
                <a:latin typeface="Poppins" panose="00000500000000000000" pitchFamily="2" charset="0"/>
                <a:ea typeface="Montserrat"/>
                <a:cs typeface="Poppins" panose="00000500000000000000" pitchFamily="2" charset="0"/>
                <a:sym typeface="Montserrat"/>
              </a:rPr>
              <a:t>High reviews + low availability = highest demand </a:t>
            </a:r>
            <a:r>
              <a:rPr lang="en-US" sz="2699" dirty="0" err="1">
                <a:solidFill>
                  <a:srgbClr val="051D40"/>
                </a:solidFill>
                <a:latin typeface="Poppins" panose="00000500000000000000" pitchFamily="2" charset="0"/>
                <a:ea typeface="Montserrat"/>
                <a:cs typeface="Poppins" panose="00000500000000000000" pitchFamily="2" charset="0"/>
                <a:sym typeface="Montserrat"/>
              </a:rPr>
              <a:t>neighbourhoods</a:t>
            </a:r>
            <a:endParaRPr lang="en-US" sz="2699" dirty="0">
              <a:solidFill>
                <a:srgbClr val="051D40"/>
              </a:solidFill>
              <a:latin typeface="Poppins" panose="00000500000000000000" pitchFamily="2" charset="0"/>
              <a:ea typeface="Montserrat"/>
              <a:cs typeface="Poppins" panose="00000500000000000000" pitchFamily="2" charset="0"/>
              <a:sym typeface="Montserrat"/>
            </a:endParaRPr>
          </a:p>
          <a:p>
            <a:pPr algn="l">
              <a:lnSpc>
                <a:spcPts val="3779"/>
              </a:lnSpc>
              <a:spcBef>
                <a:spcPct val="0"/>
              </a:spcBef>
            </a:pPr>
            <a:endParaRPr lang="en-US" sz="2699" dirty="0">
              <a:solidFill>
                <a:srgbClr val="051D40"/>
              </a:solidFill>
              <a:latin typeface="Poppins" panose="00000500000000000000" pitchFamily="2" charset="0"/>
              <a:ea typeface="Montserrat"/>
              <a:cs typeface="Poppins" panose="00000500000000000000" pitchFamily="2" charset="0"/>
              <a:sym typeface="Montserrat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2209800" y="775067"/>
            <a:ext cx="16420234" cy="20265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15"/>
              </a:lnSpc>
              <a:spcBef>
                <a:spcPct val="0"/>
              </a:spcBef>
            </a:pPr>
            <a:r>
              <a:rPr lang="en-US" sz="2868" b="1" spc="-57" dirty="0">
                <a:solidFill>
                  <a:srgbClr val="051D40"/>
                </a:solidFill>
                <a:latin typeface="Poppins" panose="00000500000000000000" pitchFamily="2" charset="0"/>
                <a:ea typeface="Montserrat Bold"/>
                <a:cs typeface="Poppins" panose="00000500000000000000" pitchFamily="2" charset="0"/>
                <a:sym typeface="Montserrat Bold"/>
              </a:rPr>
              <a:t>High-Demand Areas:</a:t>
            </a:r>
          </a:p>
          <a:p>
            <a:pPr algn="l">
              <a:lnSpc>
                <a:spcPts val="4015"/>
              </a:lnSpc>
              <a:spcBef>
                <a:spcPct val="0"/>
              </a:spcBef>
            </a:pPr>
            <a:r>
              <a:rPr lang="en-US" sz="2868" b="1" spc="-57" dirty="0">
                <a:solidFill>
                  <a:srgbClr val="051D40"/>
                </a:solidFill>
                <a:latin typeface="Poppins" panose="00000500000000000000" pitchFamily="2" charset="0"/>
                <a:ea typeface="Montserrat Bold"/>
                <a:cs typeface="Poppins" panose="00000500000000000000" pitchFamily="2" charset="0"/>
                <a:sym typeface="Montserrat Bold"/>
              </a:rPr>
              <a:t> Which neighborhoods or locations have the highest booking demand based on availability and review frequency?</a:t>
            </a:r>
          </a:p>
          <a:p>
            <a:pPr algn="l">
              <a:lnSpc>
                <a:spcPts val="4015"/>
              </a:lnSpc>
              <a:spcBef>
                <a:spcPct val="0"/>
              </a:spcBef>
            </a:pPr>
            <a:endParaRPr lang="en-US" sz="2868" b="1" spc="-57" dirty="0">
              <a:solidFill>
                <a:srgbClr val="051D40"/>
              </a:solidFill>
              <a:latin typeface="Poppins" panose="00000500000000000000" pitchFamily="2" charset="0"/>
              <a:ea typeface="Montserrat Bold"/>
              <a:cs typeface="Poppins" panose="00000500000000000000" pitchFamily="2" charset="0"/>
              <a:sym typeface="Montserrat Bold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082471" y="668525"/>
            <a:ext cx="15768937" cy="20266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18"/>
              </a:lnSpc>
            </a:pPr>
            <a:r>
              <a:rPr lang="en-US" sz="2870" b="1" spc="-57" dirty="0">
                <a:solidFill>
                  <a:srgbClr val="051D40"/>
                </a:solidFill>
                <a:latin typeface="Poppins" panose="00000500000000000000" pitchFamily="2" charset="0"/>
                <a:ea typeface="Montserrat Bold"/>
                <a:cs typeface="Poppins" panose="00000500000000000000" pitchFamily="2" charset="0"/>
                <a:sym typeface="Montserrat Bold"/>
              </a:rPr>
              <a:t>Pricing Optimization:</a:t>
            </a:r>
          </a:p>
          <a:p>
            <a:pPr algn="l">
              <a:lnSpc>
                <a:spcPts val="4018"/>
              </a:lnSpc>
            </a:pPr>
            <a:r>
              <a:rPr lang="en-US" sz="2870" b="1" spc="-57" dirty="0">
                <a:solidFill>
                  <a:srgbClr val="051D40"/>
                </a:solidFill>
                <a:latin typeface="Poppins" panose="00000500000000000000" pitchFamily="2" charset="0"/>
                <a:ea typeface="Montserrat Bold"/>
                <a:cs typeface="Poppins" panose="00000500000000000000" pitchFamily="2" charset="0"/>
                <a:sym typeface="Montserrat Bold"/>
              </a:rPr>
              <a:t> How do pricing patterns vary based on property type, room type, location, and seasonality?</a:t>
            </a:r>
          </a:p>
          <a:p>
            <a:pPr algn="l">
              <a:lnSpc>
                <a:spcPts val="4018"/>
              </a:lnSpc>
              <a:spcBef>
                <a:spcPct val="0"/>
              </a:spcBef>
            </a:pPr>
            <a:endParaRPr lang="en-US" sz="2870" b="1" spc="-57" dirty="0">
              <a:solidFill>
                <a:srgbClr val="051D40"/>
              </a:solidFill>
              <a:latin typeface="Poppins" panose="00000500000000000000" pitchFamily="2" charset="0"/>
              <a:ea typeface="Montserrat Bold"/>
              <a:cs typeface="Poppins" panose="00000500000000000000" pitchFamily="2" charset="0"/>
              <a:sym typeface="Montserrat Bold"/>
            </a:endParaRPr>
          </a:p>
        </p:txBody>
      </p:sp>
      <p:grpSp>
        <p:nvGrpSpPr>
          <p:cNvPr id="3" name="Group 3"/>
          <p:cNvGrpSpPr/>
          <p:nvPr/>
        </p:nvGrpSpPr>
        <p:grpSpPr>
          <a:xfrm>
            <a:off x="-1867766" y="-1614217"/>
            <a:ext cx="3735531" cy="3735531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952500" cap="sq">
              <a:solidFill>
                <a:srgbClr val="145DA0"/>
              </a:solidFill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832064" y="4545317"/>
            <a:ext cx="17019344" cy="5215578"/>
          </a:xfrm>
          <a:custGeom>
            <a:avLst/>
            <a:gdLst/>
            <a:ahLst/>
            <a:cxnLst/>
            <a:rect l="l" t="t" r="r" b="b"/>
            <a:pathLst>
              <a:path w="17019344" h="5215578">
                <a:moveTo>
                  <a:pt x="0" y="0"/>
                </a:moveTo>
                <a:lnTo>
                  <a:pt x="17019343" y="0"/>
                </a:lnTo>
                <a:lnTo>
                  <a:pt x="17019343" y="5215578"/>
                </a:lnTo>
                <a:lnTo>
                  <a:pt x="0" y="521557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630" t="-626" b="-626"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028700" y="2337318"/>
            <a:ext cx="14439900" cy="228620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61336" lvl="1" indent="-280668" algn="l">
              <a:lnSpc>
                <a:spcPts val="3639"/>
              </a:lnSpc>
              <a:spcBef>
                <a:spcPct val="0"/>
              </a:spcBef>
              <a:buFont typeface="Arial"/>
              <a:buChar char="•"/>
            </a:pPr>
            <a:r>
              <a:rPr lang="en-US" sz="2599" dirty="0">
                <a:solidFill>
                  <a:srgbClr val="051D40"/>
                </a:solidFill>
                <a:latin typeface="Poppins" panose="00000500000000000000" pitchFamily="2" charset="0"/>
                <a:ea typeface="Montserrat"/>
                <a:cs typeface="Poppins" panose="00000500000000000000" pitchFamily="2" charset="0"/>
                <a:sym typeface="Montserrat"/>
              </a:rPr>
              <a:t>Entire home/apt costs 2x private rooms ($155 vs $75)</a:t>
            </a:r>
          </a:p>
          <a:p>
            <a:pPr marL="561336" lvl="1" indent="-280668" algn="l">
              <a:lnSpc>
                <a:spcPts val="3639"/>
              </a:lnSpc>
              <a:spcBef>
                <a:spcPct val="0"/>
              </a:spcBef>
              <a:buFont typeface="Arial"/>
              <a:buChar char="•"/>
            </a:pPr>
            <a:r>
              <a:rPr lang="en-US" sz="2599" dirty="0">
                <a:solidFill>
                  <a:srgbClr val="051D40"/>
                </a:solidFill>
                <a:latin typeface="Poppins" panose="00000500000000000000" pitchFamily="2" charset="0"/>
                <a:ea typeface="Montserrat"/>
                <a:cs typeface="Poppins" panose="00000500000000000000" pitchFamily="2" charset="0"/>
                <a:sym typeface="Montserrat"/>
              </a:rPr>
              <a:t>Boats are the most expensive property type ($282)</a:t>
            </a:r>
          </a:p>
          <a:p>
            <a:pPr marL="561336" lvl="1" indent="-280668" algn="l">
              <a:lnSpc>
                <a:spcPts val="3639"/>
              </a:lnSpc>
              <a:spcBef>
                <a:spcPct val="0"/>
              </a:spcBef>
              <a:buFont typeface="Arial"/>
              <a:buChar char="•"/>
            </a:pPr>
            <a:r>
              <a:rPr lang="en-US" sz="2599" dirty="0">
                <a:solidFill>
                  <a:srgbClr val="051D40"/>
                </a:solidFill>
                <a:latin typeface="Poppins" panose="00000500000000000000" pitchFamily="2" charset="0"/>
                <a:ea typeface="Montserrat"/>
                <a:cs typeface="Poppins" panose="00000500000000000000" pitchFamily="2" charset="0"/>
                <a:sym typeface="Montserrat"/>
              </a:rPr>
              <a:t>Peak season is June–August with prices climbing from $122 → $152</a:t>
            </a:r>
          </a:p>
          <a:p>
            <a:pPr marL="561336" lvl="1" indent="-280668" algn="l">
              <a:lnSpc>
                <a:spcPts val="3639"/>
              </a:lnSpc>
              <a:spcBef>
                <a:spcPct val="0"/>
              </a:spcBef>
              <a:buFont typeface="Arial"/>
              <a:buChar char="•"/>
            </a:pPr>
            <a:r>
              <a:rPr lang="en-US" sz="2599" dirty="0">
                <a:solidFill>
                  <a:srgbClr val="051D40"/>
                </a:solidFill>
                <a:latin typeface="Poppins" panose="00000500000000000000" pitchFamily="2" charset="0"/>
                <a:ea typeface="Montserrat"/>
                <a:cs typeface="Poppins" panose="00000500000000000000" pitchFamily="2" charset="0"/>
                <a:sym typeface="Montserrat"/>
              </a:rPr>
              <a:t>Lowest prices in January ($122) — good for budget </a:t>
            </a:r>
            <a:r>
              <a:rPr lang="en-US" sz="2599" dirty="0" err="1">
                <a:solidFill>
                  <a:srgbClr val="051D40"/>
                </a:solidFill>
                <a:latin typeface="Poppins" panose="00000500000000000000" pitchFamily="2" charset="0"/>
                <a:ea typeface="Montserrat"/>
                <a:cs typeface="Poppins" panose="00000500000000000000" pitchFamily="2" charset="0"/>
                <a:sym typeface="Montserrat"/>
              </a:rPr>
              <a:t>travellers</a:t>
            </a:r>
            <a:endParaRPr lang="en-US" sz="2599" dirty="0">
              <a:solidFill>
                <a:srgbClr val="051D40"/>
              </a:solidFill>
              <a:latin typeface="Poppins" panose="00000500000000000000" pitchFamily="2" charset="0"/>
              <a:ea typeface="Montserrat"/>
              <a:cs typeface="Poppins" panose="00000500000000000000" pitchFamily="2" charset="0"/>
              <a:sym typeface="Montserrat"/>
            </a:endParaRPr>
          </a:p>
          <a:p>
            <a:pPr algn="l">
              <a:lnSpc>
                <a:spcPts val="3639"/>
              </a:lnSpc>
              <a:spcBef>
                <a:spcPct val="0"/>
              </a:spcBef>
            </a:pPr>
            <a:endParaRPr lang="en-US" sz="2599" dirty="0">
              <a:solidFill>
                <a:srgbClr val="051D40"/>
              </a:solidFill>
              <a:latin typeface="Poppins" panose="00000500000000000000" pitchFamily="2" charset="0"/>
              <a:ea typeface="Montserrat"/>
              <a:cs typeface="Poppins" panose="00000500000000000000" pitchFamily="2" charset="0"/>
              <a:sym typeface="Montserra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867766" y="-1614217"/>
            <a:ext cx="3735531" cy="3735531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952500" cap="sq">
              <a:solidFill>
                <a:srgbClr val="145DA0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295400" y="4679756"/>
            <a:ext cx="13781866" cy="6460250"/>
          </a:xfrm>
          <a:custGeom>
            <a:avLst/>
            <a:gdLst/>
            <a:ahLst/>
            <a:cxnLst/>
            <a:rect l="l" t="t" r="r" b="b"/>
            <a:pathLst>
              <a:path w="13781866" h="6460250">
                <a:moveTo>
                  <a:pt x="0" y="0"/>
                </a:moveTo>
                <a:lnTo>
                  <a:pt x="13781866" y="0"/>
                </a:lnTo>
                <a:lnTo>
                  <a:pt x="13781866" y="6460250"/>
                </a:lnTo>
                <a:lnTo>
                  <a:pt x="0" y="64602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513976" y="2514406"/>
            <a:ext cx="12194084" cy="26705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46" lvl="1" indent="-269873" algn="l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 dirty="0">
                <a:solidFill>
                  <a:srgbClr val="051D40"/>
                </a:solidFill>
                <a:latin typeface="Poppins" panose="00000500000000000000" pitchFamily="2" charset="0"/>
                <a:ea typeface="Montserrat"/>
                <a:cs typeface="Poppins" panose="00000500000000000000" pitchFamily="2" charset="0"/>
                <a:sym typeface="Montserrat"/>
              </a:rPr>
              <a:t>83% of hosts own just 1 listing — true individual hosts</a:t>
            </a:r>
          </a:p>
          <a:p>
            <a:pPr marL="539746" lvl="1" indent="-269873" algn="l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 dirty="0">
                <a:solidFill>
                  <a:srgbClr val="051D40"/>
                </a:solidFill>
                <a:latin typeface="Poppins" panose="00000500000000000000" pitchFamily="2" charset="0"/>
                <a:ea typeface="Montserrat"/>
                <a:cs typeface="Poppins" panose="00000500000000000000" pitchFamily="2" charset="0"/>
                <a:sym typeface="Montserrat"/>
              </a:rPr>
              <a:t>But just 16 professional hosts control 9.3% of all listings</a:t>
            </a:r>
          </a:p>
          <a:p>
            <a:pPr marL="539746" lvl="1" indent="-269873" algn="l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 dirty="0">
                <a:solidFill>
                  <a:srgbClr val="051D40"/>
                </a:solidFill>
                <a:latin typeface="Poppins" panose="00000500000000000000" pitchFamily="2" charset="0"/>
                <a:ea typeface="Montserrat"/>
                <a:cs typeface="Poppins" panose="00000500000000000000" pitchFamily="2" charset="0"/>
                <a:sym typeface="Montserrat"/>
              </a:rPr>
              <a:t>Top host alone has 46 listings — clearly a property management business</a:t>
            </a:r>
          </a:p>
          <a:p>
            <a:pPr marL="539746" lvl="1" indent="-269873" algn="l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 dirty="0">
                <a:solidFill>
                  <a:srgbClr val="051D40"/>
                </a:solidFill>
                <a:latin typeface="Poppins" panose="00000500000000000000" pitchFamily="2" charset="0"/>
                <a:ea typeface="Montserrat"/>
                <a:cs typeface="Poppins" panose="00000500000000000000" pitchFamily="2" charset="0"/>
                <a:sym typeface="Montserrat"/>
              </a:rPr>
              <a:t>Only 0.6% of hosts are professional but hold significant market share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  <a:endParaRPr lang="en-US" sz="2499" dirty="0">
              <a:solidFill>
                <a:srgbClr val="051D40"/>
              </a:solidFill>
              <a:latin typeface="Poppins" panose="00000500000000000000" pitchFamily="2" charset="0"/>
              <a:ea typeface="Montserrat"/>
              <a:cs typeface="Poppins" panose="00000500000000000000" pitchFamily="2" charset="0"/>
              <a:sym typeface="Montserrat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2387332" y="672494"/>
            <a:ext cx="16252807" cy="20266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18"/>
              </a:lnSpc>
            </a:pPr>
            <a:r>
              <a:rPr lang="en-US" sz="2870" b="1" spc="-57" dirty="0">
                <a:solidFill>
                  <a:srgbClr val="051D40"/>
                </a:solidFill>
                <a:latin typeface="Poppins" panose="00000500000000000000" pitchFamily="2" charset="0"/>
                <a:ea typeface="Montserrat Bold"/>
                <a:cs typeface="Poppins" panose="00000500000000000000" pitchFamily="2" charset="0"/>
                <a:sym typeface="Montserrat Bold"/>
              </a:rPr>
              <a:t>Host Performance &amp; Market Concentration:</a:t>
            </a:r>
          </a:p>
          <a:p>
            <a:pPr algn="l">
              <a:lnSpc>
                <a:spcPts val="4018"/>
              </a:lnSpc>
            </a:pPr>
            <a:r>
              <a:rPr lang="en-US" sz="2870" b="1" spc="-57" dirty="0">
                <a:solidFill>
                  <a:srgbClr val="051D40"/>
                </a:solidFill>
                <a:latin typeface="Poppins" panose="00000500000000000000" pitchFamily="2" charset="0"/>
                <a:ea typeface="Montserrat Bold"/>
                <a:cs typeface="Poppins" panose="00000500000000000000" pitchFamily="2" charset="0"/>
                <a:sym typeface="Montserrat Bold"/>
              </a:rPr>
              <a:t> Are a small number of hosts controlling a large portion of listings, indicating professional hosting vs individual hosting?</a:t>
            </a:r>
          </a:p>
          <a:p>
            <a:pPr algn="l">
              <a:lnSpc>
                <a:spcPts val="4018"/>
              </a:lnSpc>
              <a:spcBef>
                <a:spcPct val="0"/>
              </a:spcBef>
            </a:pPr>
            <a:endParaRPr lang="en-US" sz="2870" b="1" spc="-57" dirty="0">
              <a:solidFill>
                <a:srgbClr val="051D40"/>
              </a:solidFill>
              <a:latin typeface="Poppins" panose="00000500000000000000" pitchFamily="2" charset="0"/>
              <a:ea typeface="Montserrat Bold"/>
              <a:cs typeface="Poppins" panose="00000500000000000000" pitchFamily="2" charset="0"/>
              <a:sym typeface="Montserrat Bold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867766" y="-1614217"/>
            <a:ext cx="3735531" cy="3735531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952500" cap="sq">
              <a:solidFill>
                <a:srgbClr val="145DA0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9870605" y="2340460"/>
            <a:ext cx="7771429" cy="7249356"/>
          </a:xfrm>
          <a:custGeom>
            <a:avLst/>
            <a:gdLst/>
            <a:ahLst/>
            <a:cxnLst/>
            <a:rect l="l" t="t" r="r" b="b"/>
            <a:pathLst>
              <a:path w="7771429" h="7249356">
                <a:moveTo>
                  <a:pt x="0" y="0"/>
                </a:moveTo>
                <a:lnTo>
                  <a:pt x="7771429" y="0"/>
                </a:lnTo>
                <a:lnTo>
                  <a:pt x="7771429" y="7249356"/>
                </a:lnTo>
                <a:lnTo>
                  <a:pt x="0" y="724935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419281" y="3217056"/>
            <a:ext cx="7918749" cy="52310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29220" lvl="1" indent="-314610" algn="l">
              <a:lnSpc>
                <a:spcPts val="4080"/>
              </a:lnSpc>
              <a:spcBef>
                <a:spcPct val="0"/>
              </a:spcBef>
              <a:buFont typeface="Arial"/>
              <a:buChar char="•"/>
            </a:pPr>
            <a:r>
              <a:rPr lang="en-US" sz="2914" dirty="0">
                <a:solidFill>
                  <a:srgbClr val="051D40"/>
                </a:solidFill>
                <a:latin typeface="Poppins" panose="00000500000000000000" pitchFamily="2" charset="0"/>
                <a:ea typeface="Montserrat"/>
                <a:cs typeface="Poppins" panose="00000500000000000000" pitchFamily="2" charset="0"/>
                <a:sym typeface="Montserrat"/>
              </a:rPr>
              <a:t>20 listings are 100% occupied (0 available days) — fully booked all year</a:t>
            </a:r>
          </a:p>
          <a:p>
            <a:pPr marL="629220" lvl="1" indent="-314610" algn="l">
              <a:lnSpc>
                <a:spcPts val="4080"/>
              </a:lnSpc>
              <a:spcBef>
                <a:spcPct val="0"/>
              </a:spcBef>
              <a:buFont typeface="Arial"/>
              <a:buChar char="•"/>
            </a:pPr>
            <a:r>
              <a:rPr lang="en-US" sz="2914" dirty="0">
                <a:solidFill>
                  <a:srgbClr val="051D40"/>
                </a:solidFill>
                <a:latin typeface="Poppins" panose="00000500000000000000" pitchFamily="2" charset="0"/>
                <a:ea typeface="Montserrat"/>
                <a:cs typeface="Poppins" panose="00000500000000000000" pitchFamily="2" charset="0"/>
                <a:sym typeface="Montserrat"/>
              </a:rPr>
              <a:t>South Lake Union has highest avg occupancy at 54.7%</a:t>
            </a:r>
          </a:p>
          <a:p>
            <a:pPr marL="629220" lvl="1" indent="-314610" algn="l">
              <a:lnSpc>
                <a:spcPts val="4080"/>
              </a:lnSpc>
              <a:spcBef>
                <a:spcPct val="0"/>
              </a:spcBef>
              <a:buFont typeface="Arial"/>
              <a:buChar char="•"/>
            </a:pPr>
            <a:r>
              <a:rPr lang="en-US" sz="2914" dirty="0">
                <a:solidFill>
                  <a:srgbClr val="051D40"/>
                </a:solidFill>
                <a:latin typeface="Poppins" panose="00000500000000000000" pitchFamily="2" charset="0"/>
                <a:ea typeface="Montserrat"/>
                <a:cs typeface="Poppins" panose="00000500000000000000" pitchFamily="2" charset="0"/>
                <a:sym typeface="Montserrat"/>
              </a:rPr>
              <a:t>Entire home/apt has highest occupancy rate (36%) vs shared rooms (18.6%)</a:t>
            </a:r>
          </a:p>
          <a:p>
            <a:pPr marL="629220" lvl="1" indent="-314610" algn="l">
              <a:lnSpc>
                <a:spcPts val="4080"/>
              </a:lnSpc>
              <a:spcBef>
                <a:spcPct val="0"/>
              </a:spcBef>
              <a:buFont typeface="Arial"/>
              <a:buChar char="•"/>
            </a:pPr>
            <a:r>
              <a:rPr lang="en-US" sz="2914" dirty="0">
                <a:solidFill>
                  <a:srgbClr val="051D40"/>
                </a:solidFill>
                <a:latin typeface="Poppins" panose="00000500000000000000" pitchFamily="2" charset="0"/>
                <a:ea typeface="Montserrat"/>
                <a:cs typeface="Poppins" panose="00000500000000000000" pitchFamily="2" charset="0"/>
                <a:sym typeface="Montserrat"/>
              </a:rPr>
              <a:t>Broadway dominates the fully-booked listings list</a:t>
            </a:r>
          </a:p>
          <a:p>
            <a:pPr algn="l">
              <a:lnSpc>
                <a:spcPts val="4080"/>
              </a:lnSpc>
              <a:spcBef>
                <a:spcPct val="0"/>
              </a:spcBef>
            </a:pPr>
            <a:endParaRPr lang="en-US" sz="2914" dirty="0">
              <a:solidFill>
                <a:srgbClr val="051D40"/>
              </a:solidFill>
              <a:latin typeface="Poppins" panose="00000500000000000000" pitchFamily="2" charset="0"/>
              <a:ea typeface="Montserrat"/>
              <a:cs typeface="Poppins" panose="00000500000000000000" pitchFamily="2" charset="0"/>
              <a:sym typeface="Montserrat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867766" y="971550"/>
            <a:ext cx="14907354" cy="20266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18"/>
              </a:lnSpc>
            </a:pPr>
            <a:r>
              <a:rPr lang="en-US" sz="2870" b="1" spc="-57" dirty="0">
                <a:solidFill>
                  <a:srgbClr val="051D40"/>
                </a:solidFill>
                <a:latin typeface="Poppins" panose="00000500000000000000" pitchFamily="2" charset="0"/>
                <a:ea typeface="Montserrat Bold"/>
                <a:cs typeface="Poppins" panose="00000500000000000000" pitchFamily="2" charset="0"/>
                <a:sym typeface="Montserrat Bold"/>
              </a:rPr>
              <a:t>Availability &amp; Occupancy Trends:</a:t>
            </a:r>
          </a:p>
          <a:p>
            <a:pPr algn="l">
              <a:lnSpc>
                <a:spcPts val="4018"/>
              </a:lnSpc>
            </a:pPr>
            <a:r>
              <a:rPr lang="en-US" sz="2870" b="1" spc="-57" dirty="0">
                <a:solidFill>
                  <a:srgbClr val="051D40"/>
                </a:solidFill>
                <a:latin typeface="Poppins" panose="00000500000000000000" pitchFamily="2" charset="0"/>
                <a:ea typeface="Montserrat Bold"/>
                <a:cs typeface="Poppins" panose="00000500000000000000" pitchFamily="2" charset="0"/>
                <a:sym typeface="Montserrat Bold"/>
              </a:rPr>
              <a:t> Which listings have the lowest availability indicating higher occupancy and demand?</a:t>
            </a:r>
          </a:p>
          <a:p>
            <a:pPr algn="l">
              <a:lnSpc>
                <a:spcPts val="4018"/>
              </a:lnSpc>
              <a:spcBef>
                <a:spcPct val="0"/>
              </a:spcBef>
            </a:pPr>
            <a:endParaRPr lang="en-US" sz="2870" b="1" spc="-57" dirty="0">
              <a:solidFill>
                <a:srgbClr val="051D40"/>
              </a:solidFill>
              <a:latin typeface="Poppins" panose="00000500000000000000" pitchFamily="2" charset="0"/>
              <a:ea typeface="Montserrat Bold"/>
              <a:cs typeface="Poppins" panose="00000500000000000000" pitchFamily="2" charset="0"/>
              <a:sym typeface="Montserrat Bold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020663" y="971550"/>
            <a:ext cx="16308867" cy="20266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18"/>
              </a:lnSpc>
            </a:pPr>
            <a:r>
              <a:rPr lang="en-US" sz="2870" b="1" spc="-57" dirty="0">
                <a:solidFill>
                  <a:srgbClr val="051D40"/>
                </a:solidFill>
                <a:latin typeface="Poppins" panose="00000500000000000000" pitchFamily="2" charset="0"/>
                <a:ea typeface="Montserrat Bold"/>
                <a:cs typeface="Poppins" panose="00000500000000000000" pitchFamily="2" charset="0"/>
                <a:sym typeface="Montserrat Bold"/>
              </a:rPr>
              <a:t>Customer Satisfaction Analysis:</a:t>
            </a:r>
          </a:p>
          <a:p>
            <a:pPr algn="l">
              <a:lnSpc>
                <a:spcPts val="4018"/>
              </a:lnSpc>
            </a:pPr>
            <a:r>
              <a:rPr lang="en-US" sz="2870" b="1" spc="-57" dirty="0">
                <a:solidFill>
                  <a:srgbClr val="051D40"/>
                </a:solidFill>
                <a:latin typeface="Poppins" panose="00000500000000000000" pitchFamily="2" charset="0"/>
                <a:ea typeface="Montserrat Bold"/>
                <a:cs typeface="Poppins" panose="00000500000000000000" pitchFamily="2" charset="0"/>
                <a:sym typeface="Montserrat Bold"/>
              </a:rPr>
              <a:t> Do higher-priced listings receive better reviews, or is affordability more valued by customers?</a:t>
            </a:r>
          </a:p>
          <a:p>
            <a:pPr algn="l">
              <a:lnSpc>
                <a:spcPts val="4018"/>
              </a:lnSpc>
              <a:spcBef>
                <a:spcPct val="0"/>
              </a:spcBef>
            </a:pPr>
            <a:endParaRPr lang="en-US" sz="2870" b="1" spc="-57" dirty="0">
              <a:solidFill>
                <a:srgbClr val="051D40"/>
              </a:solidFill>
              <a:latin typeface="Poppins" panose="00000500000000000000" pitchFamily="2" charset="0"/>
              <a:ea typeface="Montserrat Bold"/>
              <a:cs typeface="Poppins" panose="00000500000000000000" pitchFamily="2" charset="0"/>
              <a:sym typeface="Montserrat Bold"/>
            </a:endParaRPr>
          </a:p>
        </p:txBody>
      </p:sp>
      <p:grpSp>
        <p:nvGrpSpPr>
          <p:cNvPr id="3" name="Group 3"/>
          <p:cNvGrpSpPr/>
          <p:nvPr/>
        </p:nvGrpSpPr>
        <p:grpSpPr>
          <a:xfrm>
            <a:off x="-1867766" y="-1614217"/>
            <a:ext cx="3735531" cy="3735531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952500" cap="sq">
              <a:solidFill>
                <a:srgbClr val="145DA0"/>
              </a:solidFill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1490363" y="5472884"/>
            <a:ext cx="12296573" cy="2550885"/>
          </a:xfrm>
          <a:custGeom>
            <a:avLst/>
            <a:gdLst/>
            <a:ahLst/>
            <a:cxnLst/>
            <a:rect l="l" t="t" r="r" b="b"/>
            <a:pathLst>
              <a:path w="12296573" h="2550885">
                <a:moveTo>
                  <a:pt x="0" y="0"/>
                </a:moveTo>
                <a:lnTo>
                  <a:pt x="12296573" y="0"/>
                </a:lnTo>
                <a:lnTo>
                  <a:pt x="12296573" y="2550885"/>
                </a:lnTo>
                <a:lnTo>
                  <a:pt x="0" y="255088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2020663" y="2813852"/>
            <a:ext cx="14246674" cy="2746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51474" lvl="1" indent="-275737" algn="l">
              <a:lnSpc>
                <a:spcPts val="3576"/>
              </a:lnSpc>
              <a:spcBef>
                <a:spcPct val="0"/>
              </a:spcBef>
              <a:buFont typeface="Arial"/>
              <a:buChar char="•"/>
            </a:pPr>
            <a:r>
              <a:rPr lang="en-US" sz="2554" dirty="0">
                <a:solidFill>
                  <a:srgbClr val="051D40"/>
                </a:solidFill>
                <a:latin typeface="Poppins" panose="00000500000000000000" pitchFamily="2" charset="0"/>
                <a:ea typeface="Montserrat"/>
                <a:cs typeface="Poppins" panose="00000500000000000000" pitchFamily="2" charset="0"/>
                <a:sym typeface="Montserrat"/>
              </a:rPr>
              <a:t>Price vs Rating: 0.053 → Almost zero correlation — price barely affects overall rating</a:t>
            </a:r>
          </a:p>
          <a:p>
            <a:pPr marL="551474" lvl="1" indent="-275737" algn="l">
              <a:lnSpc>
                <a:spcPts val="3576"/>
              </a:lnSpc>
              <a:spcBef>
                <a:spcPct val="0"/>
              </a:spcBef>
              <a:buFont typeface="Arial"/>
              <a:buChar char="•"/>
            </a:pPr>
            <a:r>
              <a:rPr lang="en-US" sz="2554" dirty="0">
                <a:solidFill>
                  <a:srgbClr val="051D40"/>
                </a:solidFill>
                <a:latin typeface="Poppins" panose="00000500000000000000" pitchFamily="2" charset="0"/>
                <a:ea typeface="Montserrat"/>
                <a:cs typeface="Poppins" panose="00000500000000000000" pitchFamily="2" charset="0"/>
                <a:sym typeface="Montserrat"/>
              </a:rPr>
              <a:t>Price vs Value: -0.029 → Slight negative — cheaper listings actually score better on value</a:t>
            </a:r>
          </a:p>
          <a:p>
            <a:pPr marL="551474" lvl="1" indent="-275737" algn="l">
              <a:lnSpc>
                <a:spcPts val="3576"/>
              </a:lnSpc>
              <a:spcBef>
                <a:spcPct val="0"/>
              </a:spcBef>
              <a:buFont typeface="Arial"/>
              <a:buChar char="•"/>
            </a:pPr>
            <a:r>
              <a:rPr lang="en-US" sz="2554" dirty="0">
                <a:solidFill>
                  <a:srgbClr val="051D40"/>
                </a:solidFill>
                <a:latin typeface="Poppins" panose="00000500000000000000" pitchFamily="2" charset="0"/>
                <a:ea typeface="Montserrat"/>
                <a:cs typeface="Poppins" panose="00000500000000000000" pitchFamily="2" charset="0"/>
                <a:sym typeface="Montserrat"/>
              </a:rPr>
              <a:t>Guests don't rate expensive listings higher — affordability &amp; quality matter more than price</a:t>
            </a:r>
          </a:p>
          <a:p>
            <a:pPr algn="l">
              <a:lnSpc>
                <a:spcPts val="3576"/>
              </a:lnSpc>
              <a:spcBef>
                <a:spcPct val="0"/>
              </a:spcBef>
            </a:pPr>
            <a:endParaRPr lang="en-US" sz="2554" dirty="0">
              <a:solidFill>
                <a:srgbClr val="051D40"/>
              </a:solidFill>
              <a:latin typeface="Poppins" panose="00000500000000000000" pitchFamily="2" charset="0"/>
              <a:ea typeface="Montserrat"/>
              <a:cs typeface="Poppins" panose="00000500000000000000" pitchFamily="2" charset="0"/>
              <a:sym typeface="Montserrat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692337"/>
            <a:ext cx="16230600" cy="8565963"/>
            <a:chOff x="0" y="0"/>
            <a:chExt cx="4544929" cy="239866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544929" cy="2398660"/>
            </a:xfrm>
            <a:custGeom>
              <a:avLst/>
              <a:gdLst/>
              <a:ahLst/>
              <a:cxnLst/>
              <a:rect l="l" t="t" r="r" b="b"/>
              <a:pathLst>
                <a:path w="4544929" h="2398660">
                  <a:moveTo>
                    <a:pt x="0" y="0"/>
                  </a:moveTo>
                  <a:lnTo>
                    <a:pt x="4544929" y="0"/>
                  </a:lnTo>
                  <a:lnTo>
                    <a:pt x="4544929" y="2398660"/>
                  </a:lnTo>
                  <a:lnTo>
                    <a:pt x="0" y="2398660"/>
                  </a:lnTo>
                  <a:close/>
                </a:path>
              </a:pathLst>
            </a:custGeom>
            <a:solidFill>
              <a:srgbClr val="145DA0">
                <a:alpha val="95686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544929" cy="24367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028700" y="7883377"/>
            <a:ext cx="16230600" cy="1891864"/>
            <a:chOff x="0" y="0"/>
            <a:chExt cx="4544929" cy="52976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544929" cy="529764"/>
            </a:xfrm>
            <a:custGeom>
              <a:avLst/>
              <a:gdLst/>
              <a:ahLst/>
              <a:cxnLst/>
              <a:rect l="l" t="t" r="r" b="b"/>
              <a:pathLst>
                <a:path w="4544929" h="529764">
                  <a:moveTo>
                    <a:pt x="0" y="0"/>
                  </a:moveTo>
                  <a:lnTo>
                    <a:pt x="4544929" y="0"/>
                  </a:lnTo>
                  <a:lnTo>
                    <a:pt x="4544929" y="529764"/>
                  </a:lnTo>
                  <a:lnTo>
                    <a:pt x="0" y="529764"/>
                  </a:lnTo>
                  <a:close/>
                </a:path>
              </a:pathLst>
            </a:custGeom>
            <a:solidFill>
              <a:srgbClr val="145DA0">
                <a:alpha val="48627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4544929" cy="5678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-3724222" y="-4507687"/>
            <a:ext cx="5924489" cy="5924489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45DA0">
                <a:alpha val="95686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5854669" y="8593207"/>
            <a:ext cx="7523780" cy="7523780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45DA0">
                <a:alpha val="95686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4" name="Freeform 14"/>
          <p:cNvSpPr/>
          <p:nvPr/>
        </p:nvSpPr>
        <p:spPr>
          <a:xfrm>
            <a:off x="1028700" y="692337"/>
            <a:ext cx="16230600" cy="8460200"/>
          </a:xfrm>
          <a:custGeom>
            <a:avLst/>
            <a:gdLst/>
            <a:ahLst/>
            <a:cxnLst/>
            <a:rect l="l" t="t" r="r" b="b"/>
            <a:pathLst>
              <a:path w="16230600" h="8460200">
                <a:moveTo>
                  <a:pt x="0" y="0"/>
                </a:moveTo>
                <a:lnTo>
                  <a:pt x="16230600" y="0"/>
                </a:lnTo>
                <a:lnTo>
                  <a:pt x="16230600" y="8460200"/>
                </a:lnTo>
                <a:lnTo>
                  <a:pt x="0" y="84602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692337"/>
            <a:ext cx="16230600" cy="8565963"/>
            <a:chOff x="0" y="0"/>
            <a:chExt cx="4544929" cy="239866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544929" cy="2398660"/>
            </a:xfrm>
            <a:custGeom>
              <a:avLst/>
              <a:gdLst/>
              <a:ahLst/>
              <a:cxnLst/>
              <a:rect l="l" t="t" r="r" b="b"/>
              <a:pathLst>
                <a:path w="4544929" h="2398660">
                  <a:moveTo>
                    <a:pt x="0" y="0"/>
                  </a:moveTo>
                  <a:lnTo>
                    <a:pt x="4544929" y="0"/>
                  </a:lnTo>
                  <a:lnTo>
                    <a:pt x="4544929" y="2398660"/>
                  </a:lnTo>
                  <a:lnTo>
                    <a:pt x="0" y="2398660"/>
                  </a:lnTo>
                  <a:close/>
                </a:path>
              </a:pathLst>
            </a:custGeom>
            <a:solidFill>
              <a:srgbClr val="145DA0">
                <a:alpha val="95686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544929" cy="24367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028700" y="7883377"/>
            <a:ext cx="16230600" cy="1891864"/>
            <a:chOff x="0" y="0"/>
            <a:chExt cx="4544929" cy="52976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544929" cy="529764"/>
            </a:xfrm>
            <a:custGeom>
              <a:avLst/>
              <a:gdLst/>
              <a:ahLst/>
              <a:cxnLst/>
              <a:rect l="l" t="t" r="r" b="b"/>
              <a:pathLst>
                <a:path w="4544929" h="529764">
                  <a:moveTo>
                    <a:pt x="0" y="0"/>
                  </a:moveTo>
                  <a:lnTo>
                    <a:pt x="4544929" y="0"/>
                  </a:lnTo>
                  <a:lnTo>
                    <a:pt x="4544929" y="529764"/>
                  </a:lnTo>
                  <a:lnTo>
                    <a:pt x="0" y="529764"/>
                  </a:lnTo>
                  <a:close/>
                </a:path>
              </a:pathLst>
            </a:custGeom>
            <a:solidFill>
              <a:srgbClr val="145DA0">
                <a:alpha val="48627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4544929" cy="5678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-3724222" y="-4507687"/>
            <a:ext cx="5924489" cy="5924489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45DA0">
                <a:alpha val="95686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5854669" y="8593207"/>
            <a:ext cx="7523780" cy="7523780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45DA0">
                <a:alpha val="95686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4" name="Freeform 14"/>
          <p:cNvSpPr/>
          <p:nvPr/>
        </p:nvSpPr>
        <p:spPr>
          <a:xfrm>
            <a:off x="1028700" y="1414730"/>
            <a:ext cx="16230600" cy="7121176"/>
          </a:xfrm>
          <a:custGeom>
            <a:avLst/>
            <a:gdLst/>
            <a:ahLst/>
            <a:cxnLst/>
            <a:rect l="l" t="t" r="r" b="b"/>
            <a:pathLst>
              <a:path w="16230600" h="7121176">
                <a:moveTo>
                  <a:pt x="0" y="0"/>
                </a:moveTo>
                <a:lnTo>
                  <a:pt x="16230600" y="0"/>
                </a:lnTo>
                <a:lnTo>
                  <a:pt x="16230600" y="7121176"/>
                </a:lnTo>
                <a:lnTo>
                  <a:pt x="0" y="712117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692337"/>
            <a:ext cx="16230600" cy="8565963"/>
            <a:chOff x="0" y="0"/>
            <a:chExt cx="4544929" cy="239866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544929" cy="2398660"/>
            </a:xfrm>
            <a:custGeom>
              <a:avLst/>
              <a:gdLst/>
              <a:ahLst/>
              <a:cxnLst/>
              <a:rect l="l" t="t" r="r" b="b"/>
              <a:pathLst>
                <a:path w="4544929" h="2398660">
                  <a:moveTo>
                    <a:pt x="0" y="0"/>
                  </a:moveTo>
                  <a:lnTo>
                    <a:pt x="4544929" y="0"/>
                  </a:lnTo>
                  <a:lnTo>
                    <a:pt x="4544929" y="2398660"/>
                  </a:lnTo>
                  <a:lnTo>
                    <a:pt x="0" y="2398660"/>
                  </a:lnTo>
                  <a:close/>
                </a:path>
              </a:pathLst>
            </a:custGeom>
            <a:solidFill>
              <a:srgbClr val="145DA0">
                <a:alpha val="95686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544929" cy="24367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028700" y="7883377"/>
            <a:ext cx="16230600" cy="1891864"/>
            <a:chOff x="0" y="0"/>
            <a:chExt cx="4544929" cy="52976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544929" cy="529764"/>
            </a:xfrm>
            <a:custGeom>
              <a:avLst/>
              <a:gdLst/>
              <a:ahLst/>
              <a:cxnLst/>
              <a:rect l="l" t="t" r="r" b="b"/>
              <a:pathLst>
                <a:path w="4544929" h="529764">
                  <a:moveTo>
                    <a:pt x="0" y="0"/>
                  </a:moveTo>
                  <a:lnTo>
                    <a:pt x="4544929" y="0"/>
                  </a:lnTo>
                  <a:lnTo>
                    <a:pt x="4544929" y="529764"/>
                  </a:lnTo>
                  <a:lnTo>
                    <a:pt x="0" y="529764"/>
                  </a:lnTo>
                  <a:close/>
                </a:path>
              </a:pathLst>
            </a:custGeom>
            <a:solidFill>
              <a:srgbClr val="145DA0">
                <a:alpha val="48627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4544929" cy="5678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-3724222" y="-4507687"/>
            <a:ext cx="5924489" cy="5924489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45DA0">
                <a:alpha val="95686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5854669" y="8593207"/>
            <a:ext cx="7523780" cy="7523780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45DA0">
                <a:alpha val="95686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4" name="Freeform 14"/>
          <p:cNvSpPr/>
          <p:nvPr/>
        </p:nvSpPr>
        <p:spPr>
          <a:xfrm>
            <a:off x="915541" y="1334225"/>
            <a:ext cx="16456918" cy="7282186"/>
          </a:xfrm>
          <a:custGeom>
            <a:avLst/>
            <a:gdLst/>
            <a:ahLst/>
            <a:cxnLst/>
            <a:rect l="l" t="t" r="r" b="b"/>
            <a:pathLst>
              <a:path w="16456918" h="7282186">
                <a:moveTo>
                  <a:pt x="0" y="0"/>
                </a:moveTo>
                <a:lnTo>
                  <a:pt x="16456918" y="0"/>
                </a:lnTo>
                <a:lnTo>
                  <a:pt x="16456918" y="7282186"/>
                </a:lnTo>
                <a:lnTo>
                  <a:pt x="0" y="728218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692337"/>
            <a:ext cx="16230600" cy="8565963"/>
            <a:chOff x="0" y="0"/>
            <a:chExt cx="4544929" cy="239866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544929" cy="2398660"/>
            </a:xfrm>
            <a:custGeom>
              <a:avLst/>
              <a:gdLst/>
              <a:ahLst/>
              <a:cxnLst/>
              <a:rect l="l" t="t" r="r" b="b"/>
              <a:pathLst>
                <a:path w="4544929" h="2398660">
                  <a:moveTo>
                    <a:pt x="0" y="0"/>
                  </a:moveTo>
                  <a:lnTo>
                    <a:pt x="4544929" y="0"/>
                  </a:lnTo>
                  <a:lnTo>
                    <a:pt x="4544929" y="2398660"/>
                  </a:lnTo>
                  <a:lnTo>
                    <a:pt x="0" y="2398660"/>
                  </a:lnTo>
                  <a:close/>
                </a:path>
              </a:pathLst>
            </a:custGeom>
            <a:solidFill>
              <a:srgbClr val="145DA0">
                <a:alpha val="95686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544929" cy="24367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028700" y="7883377"/>
            <a:ext cx="16230600" cy="1891864"/>
            <a:chOff x="0" y="0"/>
            <a:chExt cx="4544929" cy="52976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544929" cy="529764"/>
            </a:xfrm>
            <a:custGeom>
              <a:avLst/>
              <a:gdLst/>
              <a:ahLst/>
              <a:cxnLst/>
              <a:rect l="l" t="t" r="r" b="b"/>
              <a:pathLst>
                <a:path w="4544929" h="529764">
                  <a:moveTo>
                    <a:pt x="0" y="0"/>
                  </a:moveTo>
                  <a:lnTo>
                    <a:pt x="4544929" y="0"/>
                  </a:lnTo>
                  <a:lnTo>
                    <a:pt x="4544929" y="529764"/>
                  </a:lnTo>
                  <a:lnTo>
                    <a:pt x="0" y="529764"/>
                  </a:lnTo>
                  <a:close/>
                </a:path>
              </a:pathLst>
            </a:custGeom>
            <a:solidFill>
              <a:srgbClr val="145DA0">
                <a:alpha val="48627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4544929" cy="5678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-3724222" y="-4507687"/>
            <a:ext cx="5924489" cy="5924489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45DA0">
                <a:alpha val="95686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5854669" y="8593207"/>
            <a:ext cx="7523780" cy="7523780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45DA0">
                <a:alpha val="95686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4" name="Freeform 14"/>
          <p:cNvSpPr/>
          <p:nvPr/>
        </p:nvSpPr>
        <p:spPr>
          <a:xfrm>
            <a:off x="1028700" y="1511903"/>
            <a:ext cx="16230600" cy="7263193"/>
          </a:xfrm>
          <a:custGeom>
            <a:avLst/>
            <a:gdLst/>
            <a:ahLst/>
            <a:cxnLst/>
            <a:rect l="l" t="t" r="r" b="b"/>
            <a:pathLst>
              <a:path w="16230600" h="7263193">
                <a:moveTo>
                  <a:pt x="0" y="0"/>
                </a:moveTo>
                <a:lnTo>
                  <a:pt x="16230600" y="0"/>
                </a:lnTo>
                <a:lnTo>
                  <a:pt x="16230600" y="7263194"/>
                </a:lnTo>
                <a:lnTo>
                  <a:pt x="0" y="726319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692337"/>
            <a:ext cx="16230600" cy="8565963"/>
            <a:chOff x="0" y="0"/>
            <a:chExt cx="4544929" cy="239866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544929" cy="2398660"/>
            </a:xfrm>
            <a:custGeom>
              <a:avLst/>
              <a:gdLst/>
              <a:ahLst/>
              <a:cxnLst/>
              <a:rect l="l" t="t" r="r" b="b"/>
              <a:pathLst>
                <a:path w="4544929" h="2398660">
                  <a:moveTo>
                    <a:pt x="0" y="0"/>
                  </a:moveTo>
                  <a:lnTo>
                    <a:pt x="4544929" y="0"/>
                  </a:lnTo>
                  <a:lnTo>
                    <a:pt x="4544929" y="2398660"/>
                  </a:lnTo>
                  <a:lnTo>
                    <a:pt x="0" y="2398660"/>
                  </a:lnTo>
                  <a:close/>
                </a:path>
              </a:pathLst>
            </a:custGeom>
            <a:solidFill>
              <a:srgbClr val="145DA0">
                <a:alpha val="95686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544929" cy="24367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028700" y="7883377"/>
            <a:ext cx="16230600" cy="1891864"/>
            <a:chOff x="0" y="0"/>
            <a:chExt cx="4544929" cy="52976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544929" cy="529764"/>
            </a:xfrm>
            <a:custGeom>
              <a:avLst/>
              <a:gdLst/>
              <a:ahLst/>
              <a:cxnLst/>
              <a:rect l="l" t="t" r="r" b="b"/>
              <a:pathLst>
                <a:path w="4544929" h="529764">
                  <a:moveTo>
                    <a:pt x="0" y="0"/>
                  </a:moveTo>
                  <a:lnTo>
                    <a:pt x="4544929" y="0"/>
                  </a:lnTo>
                  <a:lnTo>
                    <a:pt x="4544929" y="529764"/>
                  </a:lnTo>
                  <a:lnTo>
                    <a:pt x="0" y="529764"/>
                  </a:lnTo>
                  <a:close/>
                </a:path>
              </a:pathLst>
            </a:custGeom>
            <a:solidFill>
              <a:srgbClr val="145DA0">
                <a:alpha val="48627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4544929" cy="5678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-3724222" y="-4507687"/>
            <a:ext cx="5924489" cy="5924489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45DA0">
                <a:alpha val="95686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5854669" y="8593207"/>
            <a:ext cx="7523780" cy="7523780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45DA0">
                <a:alpha val="95686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4" name="Freeform 14"/>
          <p:cNvSpPr/>
          <p:nvPr/>
        </p:nvSpPr>
        <p:spPr>
          <a:xfrm>
            <a:off x="1028700" y="1316377"/>
            <a:ext cx="16444813" cy="7276830"/>
          </a:xfrm>
          <a:custGeom>
            <a:avLst/>
            <a:gdLst/>
            <a:ahLst/>
            <a:cxnLst/>
            <a:rect l="l" t="t" r="r" b="b"/>
            <a:pathLst>
              <a:path w="16444813" h="7276830">
                <a:moveTo>
                  <a:pt x="0" y="0"/>
                </a:moveTo>
                <a:lnTo>
                  <a:pt x="16444813" y="0"/>
                </a:lnTo>
                <a:lnTo>
                  <a:pt x="16444813" y="7276830"/>
                </a:lnTo>
                <a:lnTo>
                  <a:pt x="0" y="727683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692337"/>
            <a:ext cx="16230600" cy="8565963"/>
            <a:chOff x="0" y="0"/>
            <a:chExt cx="4544929" cy="239866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544929" cy="2398660"/>
            </a:xfrm>
            <a:custGeom>
              <a:avLst/>
              <a:gdLst/>
              <a:ahLst/>
              <a:cxnLst/>
              <a:rect l="l" t="t" r="r" b="b"/>
              <a:pathLst>
                <a:path w="4544929" h="2398660">
                  <a:moveTo>
                    <a:pt x="0" y="0"/>
                  </a:moveTo>
                  <a:lnTo>
                    <a:pt x="4544929" y="0"/>
                  </a:lnTo>
                  <a:lnTo>
                    <a:pt x="4544929" y="2398660"/>
                  </a:lnTo>
                  <a:lnTo>
                    <a:pt x="0" y="2398660"/>
                  </a:lnTo>
                  <a:close/>
                </a:path>
              </a:pathLst>
            </a:custGeom>
            <a:solidFill>
              <a:srgbClr val="145DA0">
                <a:alpha val="95686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544929" cy="24367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028700" y="7883377"/>
            <a:ext cx="16230600" cy="1891864"/>
            <a:chOff x="0" y="0"/>
            <a:chExt cx="4544929" cy="52976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544929" cy="529764"/>
            </a:xfrm>
            <a:custGeom>
              <a:avLst/>
              <a:gdLst/>
              <a:ahLst/>
              <a:cxnLst/>
              <a:rect l="l" t="t" r="r" b="b"/>
              <a:pathLst>
                <a:path w="4544929" h="529764">
                  <a:moveTo>
                    <a:pt x="0" y="0"/>
                  </a:moveTo>
                  <a:lnTo>
                    <a:pt x="4544929" y="0"/>
                  </a:lnTo>
                  <a:lnTo>
                    <a:pt x="4544929" y="529764"/>
                  </a:lnTo>
                  <a:lnTo>
                    <a:pt x="0" y="529764"/>
                  </a:lnTo>
                  <a:close/>
                </a:path>
              </a:pathLst>
            </a:custGeom>
            <a:solidFill>
              <a:srgbClr val="145DA0">
                <a:alpha val="48627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4544929" cy="5678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-3724222" y="-4507687"/>
            <a:ext cx="5924489" cy="5924489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45DA0">
                <a:alpha val="95686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5854669" y="8593207"/>
            <a:ext cx="7523780" cy="7523780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45DA0">
                <a:alpha val="95686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4" name="Freeform 14"/>
          <p:cNvSpPr/>
          <p:nvPr/>
        </p:nvSpPr>
        <p:spPr>
          <a:xfrm>
            <a:off x="815340" y="1269065"/>
            <a:ext cx="16657320" cy="7412507"/>
          </a:xfrm>
          <a:custGeom>
            <a:avLst/>
            <a:gdLst/>
            <a:ahLst/>
            <a:cxnLst/>
            <a:rect l="l" t="t" r="r" b="b"/>
            <a:pathLst>
              <a:path w="16657320" h="7412507">
                <a:moveTo>
                  <a:pt x="0" y="0"/>
                </a:moveTo>
                <a:lnTo>
                  <a:pt x="16657320" y="0"/>
                </a:lnTo>
                <a:lnTo>
                  <a:pt x="16657320" y="7412507"/>
                </a:lnTo>
                <a:lnTo>
                  <a:pt x="0" y="741250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867766" y="-1614217"/>
            <a:ext cx="3735531" cy="3735531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952500" cap="sq">
              <a:solidFill>
                <a:srgbClr val="145DA0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4577690" y="4577278"/>
            <a:ext cx="13710310" cy="5709722"/>
          </a:xfrm>
          <a:custGeom>
            <a:avLst/>
            <a:gdLst/>
            <a:ahLst/>
            <a:cxnLst/>
            <a:rect l="l" t="t" r="r" b="b"/>
            <a:pathLst>
              <a:path w="13710310" h="5709722">
                <a:moveTo>
                  <a:pt x="0" y="0"/>
                </a:moveTo>
                <a:lnTo>
                  <a:pt x="13710310" y="0"/>
                </a:lnTo>
                <a:lnTo>
                  <a:pt x="13710310" y="5709722"/>
                </a:lnTo>
                <a:lnTo>
                  <a:pt x="0" y="570972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252"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472476" y="2706999"/>
            <a:ext cx="17815524" cy="28995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01"/>
              </a:lnSpc>
            </a:pPr>
            <a:r>
              <a:rPr lang="en-US" sz="2715" dirty="0">
                <a:solidFill>
                  <a:srgbClr val="000000"/>
                </a:solidFill>
                <a:latin typeface="Poppins" panose="00000500000000000000" pitchFamily="2" charset="0"/>
                <a:ea typeface="Montserrat"/>
                <a:cs typeface="Poppins" panose="00000500000000000000" pitchFamily="2" charset="0"/>
                <a:sym typeface="Montserrat"/>
              </a:rPr>
              <a:t>The scatter plot shows Actual Price (x-axis) vs Predicted Price (y-axis).</a:t>
            </a:r>
          </a:p>
          <a:p>
            <a:pPr marL="586254" lvl="1" indent="-293127" algn="l">
              <a:lnSpc>
                <a:spcPts val="3801"/>
              </a:lnSpc>
              <a:spcBef>
                <a:spcPct val="0"/>
              </a:spcBef>
              <a:buFont typeface="Arial"/>
              <a:buChar char="•"/>
            </a:pPr>
            <a:r>
              <a:rPr lang="en-US" sz="2715" dirty="0">
                <a:solidFill>
                  <a:srgbClr val="000000"/>
                </a:solidFill>
                <a:latin typeface="Poppins" panose="00000500000000000000" pitchFamily="2" charset="0"/>
                <a:ea typeface="Montserrat"/>
                <a:cs typeface="Poppins" panose="00000500000000000000" pitchFamily="2" charset="0"/>
                <a:sym typeface="Montserrat"/>
              </a:rPr>
              <a:t>The red dashed line = perfect prediction (if every dot sat on it, the model would be 100% accurate)</a:t>
            </a:r>
          </a:p>
          <a:p>
            <a:pPr marL="586254" lvl="1" indent="-293127" algn="l">
              <a:lnSpc>
                <a:spcPts val="3801"/>
              </a:lnSpc>
              <a:spcBef>
                <a:spcPct val="0"/>
              </a:spcBef>
              <a:buFont typeface="Arial"/>
              <a:buChar char="•"/>
            </a:pPr>
            <a:r>
              <a:rPr lang="en-US" sz="2715" dirty="0">
                <a:solidFill>
                  <a:srgbClr val="000000"/>
                </a:solidFill>
                <a:latin typeface="Poppins" panose="00000500000000000000" pitchFamily="2" charset="0"/>
                <a:ea typeface="Montserrat"/>
                <a:cs typeface="Poppins" panose="00000500000000000000" pitchFamily="2" charset="0"/>
                <a:sym typeface="Montserrat"/>
              </a:rPr>
              <a:t>R² = 0.556 means the model explains 55.6% of the price variation — the other 44.4% is unexplained</a:t>
            </a:r>
          </a:p>
          <a:p>
            <a:pPr marL="586254" lvl="1" indent="-293127" algn="l">
              <a:lnSpc>
                <a:spcPts val="3801"/>
              </a:lnSpc>
              <a:spcBef>
                <a:spcPct val="0"/>
              </a:spcBef>
              <a:buFont typeface="Arial"/>
              <a:buChar char="•"/>
            </a:pPr>
            <a:r>
              <a:rPr lang="en-US" sz="2715" dirty="0">
                <a:solidFill>
                  <a:srgbClr val="000000"/>
                </a:solidFill>
                <a:latin typeface="Poppins" panose="00000500000000000000" pitchFamily="2" charset="0"/>
                <a:ea typeface="Montserrat"/>
                <a:cs typeface="Poppins" panose="00000500000000000000" pitchFamily="2" charset="0"/>
                <a:sym typeface="Montserrat"/>
              </a:rPr>
              <a:t>Dots are reasonably close to the line for low prices ($50–$150) but spread out widely for higher prices</a:t>
            </a:r>
          </a:p>
          <a:p>
            <a:pPr algn="l">
              <a:lnSpc>
                <a:spcPts val="3801"/>
              </a:lnSpc>
              <a:spcBef>
                <a:spcPct val="0"/>
              </a:spcBef>
            </a:pPr>
            <a:endParaRPr lang="en-US" sz="2715" dirty="0">
              <a:solidFill>
                <a:srgbClr val="000000"/>
              </a:solidFill>
              <a:latin typeface="Poppins" panose="00000500000000000000" pitchFamily="2" charset="0"/>
              <a:ea typeface="Montserrat"/>
              <a:cs typeface="Poppins" panose="00000500000000000000" pitchFamily="2" charset="0"/>
              <a:sym typeface="Montserrat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2186361" y="262248"/>
            <a:ext cx="16746335" cy="854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  <a:spcBef>
                <a:spcPct val="0"/>
              </a:spcBef>
            </a:pPr>
            <a:r>
              <a:rPr lang="en-US" sz="5000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Modelling - Price Prediction (Regression)                                                      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867766" y="1078223"/>
            <a:ext cx="10451238" cy="17091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  <a:endParaRPr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algn="l">
              <a:lnSpc>
                <a:spcPts val="3639"/>
              </a:lnSpc>
              <a:spcBef>
                <a:spcPct val="0"/>
              </a:spcBef>
            </a:pPr>
            <a:r>
              <a:rPr lang="en-US" sz="2599" dirty="0">
                <a:solidFill>
                  <a:srgbClr val="000000"/>
                </a:solidFill>
                <a:latin typeface="Poppins" panose="00000500000000000000" pitchFamily="2" charset="0"/>
                <a:ea typeface="Montserrat"/>
                <a:cs typeface="Poppins" panose="00000500000000000000" pitchFamily="2" charset="0"/>
                <a:sym typeface="Montserrat"/>
              </a:rPr>
              <a:t>Question: Can we predict the nightly price of a listing?</a:t>
            </a:r>
          </a:p>
          <a:p>
            <a:pPr algn="l">
              <a:lnSpc>
                <a:spcPts val="3639"/>
              </a:lnSpc>
              <a:spcBef>
                <a:spcPct val="0"/>
              </a:spcBef>
            </a:pPr>
            <a:r>
              <a:rPr lang="en-US" sz="2599" dirty="0">
                <a:solidFill>
                  <a:srgbClr val="000000"/>
                </a:solidFill>
                <a:latin typeface="Poppins" panose="00000500000000000000" pitchFamily="2" charset="0"/>
                <a:ea typeface="Montserrat"/>
                <a:cs typeface="Poppins" panose="00000500000000000000" pitchFamily="2" charset="0"/>
                <a:sym typeface="Montserrat"/>
              </a:rPr>
              <a:t>Target Variable: price (continuous number)</a:t>
            </a:r>
          </a:p>
          <a:p>
            <a:pPr algn="l">
              <a:lnSpc>
                <a:spcPts val="3639"/>
              </a:lnSpc>
              <a:spcBef>
                <a:spcPct val="0"/>
              </a:spcBef>
            </a:pPr>
            <a:endParaRPr lang="en-US" sz="2599" dirty="0">
              <a:solidFill>
                <a:srgbClr val="000000"/>
              </a:solidFill>
              <a:latin typeface="Poppins" panose="00000500000000000000" pitchFamily="2" charset="0"/>
              <a:ea typeface="Montserrat"/>
              <a:cs typeface="Poppins" panose="00000500000000000000" pitchFamily="2" charset="0"/>
              <a:sym typeface="Montserrat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867766" y="-1614217"/>
            <a:ext cx="3735531" cy="3735531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952500" cap="sq">
              <a:solidFill>
                <a:srgbClr val="145DA0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329322" y="5676075"/>
            <a:ext cx="9940987" cy="4345549"/>
          </a:xfrm>
          <a:custGeom>
            <a:avLst/>
            <a:gdLst/>
            <a:ahLst/>
            <a:cxnLst/>
            <a:rect l="l" t="t" r="r" b="b"/>
            <a:pathLst>
              <a:path w="9940987" h="4345549">
                <a:moveTo>
                  <a:pt x="0" y="0"/>
                </a:moveTo>
                <a:lnTo>
                  <a:pt x="9940988" y="0"/>
                </a:lnTo>
                <a:lnTo>
                  <a:pt x="9940988" y="4345549"/>
                </a:lnTo>
                <a:lnTo>
                  <a:pt x="0" y="434554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9734903" y="2640701"/>
            <a:ext cx="7524397" cy="7380923"/>
          </a:xfrm>
          <a:custGeom>
            <a:avLst/>
            <a:gdLst/>
            <a:ahLst/>
            <a:cxnLst/>
            <a:rect l="l" t="t" r="r" b="b"/>
            <a:pathLst>
              <a:path w="7524397" h="7380923">
                <a:moveTo>
                  <a:pt x="0" y="0"/>
                </a:moveTo>
                <a:lnTo>
                  <a:pt x="7524397" y="0"/>
                </a:lnTo>
                <a:lnTo>
                  <a:pt x="7524397" y="7380923"/>
                </a:lnTo>
                <a:lnTo>
                  <a:pt x="0" y="738092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329322" y="3520770"/>
            <a:ext cx="9685884" cy="26015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134"/>
              </a:lnSpc>
              <a:spcBef>
                <a:spcPct val="0"/>
              </a:spcBef>
            </a:pPr>
            <a:r>
              <a:rPr lang="en-US" sz="2953" dirty="0">
                <a:solidFill>
                  <a:srgbClr val="000000"/>
                </a:solidFill>
                <a:latin typeface="Poppins" panose="00000500000000000000" pitchFamily="2" charset="0"/>
                <a:ea typeface="Montserrat"/>
                <a:cs typeface="Poppins" panose="00000500000000000000" pitchFamily="2" charset="0"/>
                <a:sym typeface="Montserrat"/>
              </a:rPr>
              <a:t>The model is almost </a:t>
            </a:r>
            <a:r>
              <a:rPr lang="en-US" sz="2953" b="1" dirty="0">
                <a:solidFill>
                  <a:srgbClr val="000000"/>
                </a:solidFill>
                <a:latin typeface="Poppins" panose="00000500000000000000" pitchFamily="2" charset="0"/>
                <a:ea typeface="Montserrat Bold"/>
                <a:cs typeface="Poppins" panose="00000500000000000000" pitchFamily="2" charset="0"/>
                <a:sym typeface="Montserrat Bold"/>
              </a:rPr>
              <a:t>predicting Low Occupancy</a:t>
            </a:r>
            <a:r>
              <a:rPr lang="en-US" sz="2953" dirty="0">
                <a:solidFill>
                  <a:srgbClr val="000000"/>
                </a:solidFill>
                <a:latin typeface="Poppins" panose="00000500000000000000" pitchFamily="2" charset="0"/>
                <a:ea typeface="Montserrat"/>
                <a:cs typeface="Poppins" panose="00000500000000000000" pitchFamily="2" charset="0"/>
                <a:sym typeface="Montserrat"/>
              </a:rPr>
              <a:t> — it correctly identifies 493 low-occupancy listings but almost completely misses high-occupancy ones </a:t>
            </a:r>
          </a:p>
          <a:p>
            <a:pPr algn="just">
              <a:lnSpc>
                <a:spcPts val="4134"/>
              </a:lnSpc>
              <a:spcBef>
                <a:spcPct val="0"/>
              </a:spcBef>
            </a:pPr>
            <a:endParaRPr lang="en-US" sz="2953" dirty="0">
              <a:solidFill>
                <a:srgbClr val="000000"/>
              </a:solidFill>
              <a:latin typeface="Poppins" panose="00000500000000000000" pitchFamily="2" charset="0"/>
              <a:ea typeface="Montserrat"/>
              <a:cs typeface="Poppins" panose="00000500000000000000" pitchFamily="2" charset="0"/>
              <a:sym typeface="Montserrat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2409004" y="554038"/>
            <a:ext cx="3323034" cy="854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  <a:spcBef>
                <a:spcPct val="0"/>
              </a:spcBef>
            </a:pPr>
            <a:r>
              <a:rPr lang="en-US" sz="5000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Modelling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546423" y="1671084"/>
            <a:ext cx="14519474" cy="10502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sz="2999" dirty="0">
                <a:solidFill>
                  <a:srgbClr val="000000"/>
                </a:solidFill>
                <a:latin typeface="Poppins" panose="00000500000000000000" pitchFamily="2" charset="0"/>
                <a:ea typeface="Montserrat"/>
                <a:cs typeface="Poppins" panose="00000500000000000000" pitchFamily="2" charset="0"/>
                <a:sym typeface="Montserrat"/>
              </a:rPr>
              <a:t>Question: Can we predict whether a listing will have high or low occupancy?</a:t>
            </a:r>
          </a:p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sz="2999" dirty="0">
                <a:solidFill>
                  <a:srgbClr val="000000"/>
                </a:solidFill>
                <a:latin typeface="Poppins" panose="00000500000000000000" pitchFamily="2" charset="0"/>
                <a:ea typeface="Montserrat"/>
                <a:cs typeface="Poppins" panose="00000500000000000000" pitchFamily="2" charset="0"/>
                <a:sym typeface="Montserrat"/>
              </a:rPr>
              <a:t>Target Variable: </a:t>
            </a:r>
            <a:r>
              <a:rPr lang="en-US" sz="2999" dirty="0" err="1">
                <a:solidFill>
                  <a:srgbClr val="000000"/>
                </a:solidFill>
                <a:latin typeface="Poppins" panose="00000500000000000000" pitchFamily="2" charset="0"/>
                <a:ea typeface="Montserrat"/>
                <a:cs typeface="Poppins" panose="00000500000000000000" pitchFamily="2" charset="0"/>
                <a:sym typeface="Montserrat"/>
              </a:rPr>
              <a:t>high_occupancy</a:t>
            </a:r>
            <a:r>
              <a:rPr lang="en-US" sz="2999" dirty="0">
                <a:solidFill>
                  <a:srgbClr val="000000"/>
                </a:solidFill>
                <a:latin typeface="Poppins" panose="00000500000000000000" pitchFamily="2" charset="0"/>
                <a:ea typeface="Montserrat"/>
                <a:cs typeface="Poppins" panose="00000500000000000000" pitchFamily="2" charset="0"/>
                <a:sym typeface="Montserrat"/>
              </a:rPr>
              <a:t> 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64031" y="585418"/>
            <a:ext cx="17559455" cy="9399984"/>
          </a:xfrm>
          <a:custGeom>
            <a:avLst/>
            <a:gdLst/>
            <a:ahLst/>
            <a:cxnLst/>
            <a:rect l="l" t="t" r="r" b="b"/>
            <a:pathLst>
              <a:path w="17559455" h="9399984">
                <a:moveTo>
                  <a:pt x="0" y="0"/>
                </a:moveTo>
                <a:lnTo>
                  <a:pt x="17559455" y="0"/>
                </a:lnTo>
                <a:lnTo>
                  <a:pt x="17559455" y="9399984"/>
                </a:lnTo>
                <a:lnTo>
                  <a:pt x="0" y="939998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6477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-3724222" y="-4507687"/>
            <a:ext cx="5924489" cy="5924489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45DA0">
                <a:alpha val="95686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5854669" y="8593207"/>
            <a:ext cx="7523780" cy="7523780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45DA0">
                <a:alpha val="95686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3724222" y="-4507687"/>
            <a:ext cx="5924489" cy="5924489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45DA0">
                <a:alpha val="95686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5854669" y="8593207"/>
            <a:ext cx="7523780" cy="7523780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45DA0">
                <a:alpha val="95686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733554" y="780514"/>
            <a:ext cx="16820893" cy="8267908"/>
          </a:xfrm>
          <a:custGeom>
            <a:avLst/>
            <a:gdLst/>
            <a:ahLst/>
            <a:cxnLst/>
            <a:rect l="l" t="t" r="r" b="b"/>
            <a:pathLst>
              <a:path w="16820893" h="8267908">
                <a:moveTo>
                  <a:pt x="0" y="0"/>
                </a:moveTo>
                <a:lnTo>
                  <a:pt x="16820892" y="0"/>
                </a:lnTo>
                <a:lnTo>
                  <a:pt x="16820892" y="8267908"/>
                </a:lnTo>
                <a:lnTo>
                  <a:pt x="0" y="826790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7064"/>
            </a:stretch>
          </a:blipFill>
        </p:spPr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7911" y="84368"/>
            <a:ext cx="18072178" cy="10118265"/>
          </a:xfrm>
          <a:custGeom>
            <a:avLst/>
            <a:gdLst/>
            <a:ahLst/>
            <a:cxnLst/>
            <a:rect l="l" t="t" r="r" b="b"/>
            <a:pathLst>
              <a:path w="18072178" h="10118265">
                <a:moveTo>
                  <a:pt x="0" y="0"/>
                </a:moveTo>
                <a:lnTo>
                  <a:pt x="18072178" y="0"/>
                </a:lnTo>
                <a:lnTo>
                  <a:pt x="18072178" y="10118264"/>
                </a:lnTo>
                <a:lnTo>
                  <a:pt x="0" y="1011826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354" b="-2354"/>
            </a:stretch>
          </a:blipFill>
        </p:spPr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72087" y="349728"/>
            <a:ext cx="17743827" cy="9587545"/>
          </a:xfrm>
          <a:custGeom>
            <a:avLst/>
            <a:gdLst/>
            <a:ahLst/>
            <a:cxnLst/>
            <a:rect l="l" t="t" r="r" b="b"/>
            <a:pathLst>
              <a:path w="17743827" h="9587545">
                <a:moveTo>
                  <a:pt x="0" y="0"/>
                </a:moveTo>
                <a:lnTo>
                  <a:pt x="17743826" y="0"/>
                </a:lnTo>
                <a:lnTo>
                  <a:pt x="17743826" y="9587544"/>
                </a:lnTo>
                <a:lnTo>
                  <a:pt x="0" y="958754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6878"/>
            </a:stretch>
          </a:blipFill>
        </p:spPr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228600"/>
            <a:ext cx="18288000" cy="10515600"/>
          </a:xfrm>
          <a:custGeom>
            <a:avLst/>
            <a:gdLst/>
            <a:ahLst/>
            <a:cxnLst/>
            <a:rect l="l" t="t" r="r" b="b"/>
            <a:pathLst>
              <a:path w="18288000" h="10515600">
                <a:moveTo>
                  <a:pt x="0" y="0"/>
                </a:moveTo>
                <a:lnTo>
                  <a:pt x="18288000" y="0"/>
                </a:lnTo>
                <a:lnTo>
                  <a:pt x="18288000" y="10515600"/>
                </a:lnTo>
                <a:lnTo>
                  <a:pt x="0" y="10515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856</Words>
  <Application>Microsoft Office PowerPoint</Application>
  <PresentationFormat>Custom</PresentationFormat>
  <Paragraphs>91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3" baseType="lpstr">
      <vt:lpstr>Calibri</vt:lpstr>
      <vt:lpstr>Montserrat Bold</vt:lpstr>
      <vt:lpstr>Montserrat</vt:lpstr>
      <vt:lpstr>Poppins</vt:lpstr>
      <vt:lpstr>Arial</vt:lpstr>
      <vt:lpstr>Poppins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EXPLANATION</dc:title>
  <dc:creator>Admin</dc:creator>
  <cp:lastModifiedBy>Prateeksha Naik</cp:lastModifiedBy>
  <cp:revision>2</cp:revision>
  <dcterms:created xsi:type="dcterms:W3CDTF">2006-08-16T00:00:00Z</dcterms:created>
  <dcterms:modified xsi:type="dcterms:W3CDTF">2026-04-30T06:42:27Z</dcterms:modified>
  <dc:identifier>DAHGr8Ayfrs</dc:identifier>
</cp:coreProperties>
</file>